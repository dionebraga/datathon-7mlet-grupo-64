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FIAP PÓS-TECH · 7MLET · DATATHON · GRUPO 64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Offers Platform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ofertas financeiras em tempo real com multi-armed bandits contextuais e assistente LLM/RAG.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989734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114800"/>
            <a:ext cx="19897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Contextual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57830" y="411480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7830" y="41148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Margin-Weighted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1222" y="4114800"/>
            <a:ext cx="1397203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1222" y="4114800"/>
            <a:ext cx="13972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9594" y="4114800"/>
            <a:ext cx="705917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594" y="4114800"/>
            <a:ext cx="7059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70448"/>
            <a:ext cx="164592" cy="164592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5742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Dione Braga  ·  Grupo 64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64424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2026 · Licença MIT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PROBLEMA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 impressão é uma decisão de valor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1945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fixas envelhecem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idade &gt; 60, mostre depósito.” Não aprendem com o comportamento e ficam obsoletas.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3880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6488" y="219456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940808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A/B são lentos e caros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66488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Queimam semanas de tráfego na variante ruim até atingir significância estatística.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0832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73440" y="2194560"/>
            <a:ext cx="182880" cy="182880"/>
          </a:xfrm>
          <a:prstGeom prst="ellipse">
            <a:avLst/>
          </a:prstGeom>
          <a:solidFill>
            <a:srgbClr val="3291FF"/>
          </a:solidFill>
          <a:ln/>
        </p:spPr>
      </p:sp>
      <p:sp>
        <p:nvSpPr>
          <p:cNvPr id="14" name="Text 12"/>
          <p:cNvSpPr/>
          <p:nvPr/>
        </p:nvSpPr>
        <p:spPr>
          <a:xfrm>
            <a:off x="8747760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Conversão ≠ lucro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73440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cliques ignora a margem e o contexto — você converte mais e ganha menos.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3484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16161A"/>
          </a:solidFill>
          <a:ln w="17780">
            <a:solidFill>
              <a:srgbClr val="0070F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PERGUNTA CENTRAL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4983480"/>
            <a:ext cx="10140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oferta mostrar para </a:t>
            </a:r>
            <a:pPr indent="0" marL="0">
              <a:buNone/>
            </a:pPr>
            <a:r>
              <a:rPr lang="en-US" sz="2600" b="1" i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</a:t>
            </a:r>
            <a:pPr indent="0" marL="0"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cliente, </a:t>
            </a:r>
            <a:pPr indent="0" marL="0">
              <a:buNone/>
            </a:pPr>
            <a:r>
              <a:rPr lang="en-US" sz="2600" b="1" i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</a:t>
            </a:r>
            <a:pPr indent="0" marL="0"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para maximizar o valor?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ABORDAGEM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sistema que decide, aprende e se explica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Bandit contextual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vs. explota e aprende online a cada decisão — sem esperar o fim de um A/B.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LinUCB · Thompson · UCB-V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3880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4776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" name="Text 11"/>
          <p:cNvSpPr/>
          <p:nvPr/>
        </p:nvSpPr>
        <p:spPr>
          <a:xfrm>
            <a:off x="4684776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4776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Recompensa por margem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4776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P(conversão) × margem. Otimiza lucro, não cliques.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84776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4776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Margin-Weighted Ranking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0832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91728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0" name="Text 18"/>
          <p:cNvSpPr/>
          <p:nvPr/>
        </p:nvSpPr>
        <p:spPr>
          <a:xfrm>
            <a:off x="849172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91728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Assistente LLM + RAG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91728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experimentos e explica cada decisão com reason codes auditáveis.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91728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1728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Explicabilidade · offline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&amp; ENRIQUECIMENTO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factual + camada sintética com oráculo conhecido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59536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factual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(Kaggle/UCI). Sem vazamento: duration removido. Nenhum dado real de cliente.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4968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65320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792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7928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 sintética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7928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offer_catalog, offer_events e delayed rewards gerados por seeds reprodutíveis.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33360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363712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5632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656320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Oráculo → Regret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56320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conhecemos o ótimo do gerador, medimos regret (distância do ótimo).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29200"/>
            <a:ext cx="10323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sintético?  </a:t>
            </a:r>
            <a:pPr indent="0" marL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atrasadas, oráculo mensurável e conformidade — nenhum dado pessoal real é usado (LGPD by design).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políticas competindo (+1 neural)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075688"/>
            <a:ext cx="64008" cy="1106424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167128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77824" y="2606040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guloso — referência para medir o lift.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7356" y="2075688"/>
            <a:ext cx="64008" cy="110642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588252" y="2167128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 Sampling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88252" y="2606040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Beta-Bernoulli. Exploração probabilística por amostragem.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584448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694176"/>
            <a:ext cx="64008" cy="1106424"/>
          </a:xfrm>
          <a:prstGeom prst="rect">
            <a:avLst/>
          </a:prstGeom>
          <a:solidFill>
            <a:srgbClr val="3291FF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3785616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 (UCB-V)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77824" y="4224528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Otimismo consciente da variância do braço.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7356" y="3584448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7356" y="3694176"/>
            <a:ext cx="64008" cy="1106424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8252" y="3785616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 (contextual)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588252" y="4224528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linear sobre o contexto — a política vencedora.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4406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Bandit (PyTorch MLP, MC-dropout) como 5ª política opcional · </a:t>
            </a:r>
            <a:pPr indent="0" marL="0"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e recompensas atrasadas tratados explicitamente.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BRAÇOS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ofertas, margens diferentes — por isso a margem importa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Empréstimo Pré-aprovado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767328" y="202082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</p:sp>
      <p:sp>
        <p:nvSpPr>
          <p:cNvPr id="6" name="Shape 4"/>
          <p:cNvSpPr/>
          <p:nvPr/>
        </p:nvSpPr>
        <p:spPr>
          <a:xfrm>
            <a:off x="3767328" y="202082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10643616" y="1965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R$ 300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67328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· restrita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5694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Depósito a Prazo Premium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67328" y="2624328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</p:sp>
      <p:sp>
        <p:nvSpPr>
          <p:cNvPr id="11" name="Shape 9"/>
          <p:cNvSpPr/>
          <p:nvPr/>
        </p:nvSpPr>
        <p:spPr>
          <a:xfrm>
            <a:off x="3767328" y="2624328"/>
            <a:ext cx="4511040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43616" y="2569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2880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 · padrão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31729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Fundo de Investimento Intro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767328" y="3227832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</p:sp>
      <p:sp>
        <p:nvSpPr>
          <p:cNvPr id="16" name="Shape 14"/>
          <p:cNvSpPr/>
          <p:nvPr/>
        </p:nvSpPr>
        <p:spPr>
          <a:xfrm>
            <a:off x="3767328" y="3227832"/>
            <a:ext cx="4059936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0643616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R$ 180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 · restrita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37764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Cartão Cashback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67328" y="3831336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</p:sp>
      <p:sp>
        <p:nvSpPr>
          <p:cNvPr id="21" name="Shape 19"/>
          <p:cNvSpPr/>
          <p:nvPr/>
        </p:nvSpPr>
        <p:spPr>
          <a:xfrm>
            <a:off x="3767328" y="3831336"/>
            <a:ext cx="2706624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2" name="Text 20"/>
          <p:cNvSpPr/>
          <p:nvPr/>
        </p:nvSpPr>
        <p:spPr>
          <a:xfrm>
            <a:off x="10643616" y="3776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67328" y="4087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· padrão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 Bundle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767328" y="4434840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</p:sp>
      <p:sp>
        <p:nvSpPr>
          <p:cNvPr id="26" name="Shape 24"/>
          <p:cNvSpPr/>
          <p:nvPr/>
        </p:nvSpPr>
        <p:spPr>
          <a:xfrm>
            <a:off x="3767328" y="4434840"/>
            <a:ext cx="2029968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7" name="Text 25"/>
          <p:cNvSpPr/>
          <p:nvPr/>
        </p:nvSpPr>
        <p:spPr>
          <a:xfrm>
            <a:off x="10643616" y="43799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R$ 90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67328" y="4690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 · padrão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4983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Oferta (controle)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767328" y="503834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</p:sp>
      <p:sp>
        <p:nvSpPr>
          <p:cNvPr id="31" name="Shape 29"/>
          <p:cNvSpPr/>
          <p:nvPr/>
        </p:nvSpPr>
        <p:spPr>
          <a:xfrm>
            <a:off x="3767328" y="5038344"/>
            <a:ext cx="109728" cy="274320"/>
          </a:xfrm>
          <a:prstGeom prst="roundRect">
            <a:avLst>
              <a:gd name="adj" fmla="val 125000"/>
            </a:avLst>
          </a:prstGeom>
          <a:solidFill>
            <a:srgbClr val="0070F3"/>
          </a:solidFill>
          <a:ln/>
        </p:spPr>
      </p:sp>
      <p:sp>
        <p:nvSpPr>
          <p:cNvPr id="32" name="Text 30"/>
          <p:cNvSpPr/>
          <p:nvPr/>
        </p:nvSpPr>
        <p:spPr>
          <a:xfrm>
            <a:off x="10643616" y="4983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67328" y="52943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59893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5907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restrita (gate de elegibilidade/suitability)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13248" y="5989320"/>
            <a:ext cx="146304" cy="146304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7" name="Text 35"/>
          <p:cNvSpPr/>
          <p:nvPr/>
        </p:nvSpPr>
        <p:spPr>
          <a:xfrm>
            <a:off x="5650992" y="5907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DECISÃO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→ elegibilidade → política → log auditável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4966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1324966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canal, juros, histórico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40203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2811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0849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2" name="Text 10"/>
          <p:cNvSpPr/>
          <p:nvPr/>
        </p:nvSpPr>
        <p:spPr>
          <a:xfrm>
            <a:off x="3590849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42539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Elegibilidade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60827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suitability / risco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6086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98694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6732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8" name="Text 16"/>
          <p:cNvSpPr/>
          <p:nvPr/>
        </p:nvSpPr>
        <p:spPr>
          <a:xfrm>
            <a:off x="5856732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08422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 ativa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6710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braço de maior valor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71970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64578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22615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4" name="Text 22"/>
          <p:cNvSpPr/>
          <p:nvPr/>
        </p:nvSpPr>
        <p:spPr>
          <a:xfrm>
            <a:off x="8122615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74306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codes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2594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versão da política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37853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30461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88498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0" name="Text 28"/>
          <p:cNvSpPr/>
          <p:nvPr/>
        </p:nvSpPr>
        <p:spPr>
          <a:xfrm>
            <a:off x="10388498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40189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auditável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58477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 (LGPD)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160520"/>
            <a:ext cx="11055096" cy="1691640"/>
          </a:xfrm>
          <a:prstGeom prst="roundRect">
            <a:avLst>
              <a:gd name="adj" fmla="val 5405"/>
            </a:avLst>
          </a:prstGeom>
          <a:solidFill>
            <a:srgbClr val="16161A"/>
          </a:solidFill>
          <a:ln w="1651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78408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REAL — MARGEM VENCE CONVERSÃO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8408" y="4709160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60 anos, com empréstimo ativo  →  escolhido: </a:t>
            </a:r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Fundo de Investimento (R$ 15,4)</a:t>
            </a:r>
            <a:pPr indent="0" marL="0">
              <a:buNone/>
            </a:pPr>
            <a:r>
              <a:rPr lang="en-US" sz="1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78408" y="5212080"/>
            <a:ext cx="10232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Seguro tinha MAIOR conversão (10,9%), mas a margem baixa (R$90) perdeu para o Fundo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(8,6% × R$180). A oferta de Empréstimo foi filtrada pela elegibilidade.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EVIDÊNCIAS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 capturou +60% de valor vs. baseline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+59,9%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vs. baseline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9282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0722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9,1%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3490722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 (↓ é melhor)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3076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6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323076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usadas (baseline: 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63990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5430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13%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55430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exploração saudável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ACUMULADO POR POLÍTICA (R$)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057400" y="3739896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3739896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7242048" y="3703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R$ 118.080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233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057400" y="4270248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4270248"/>
            <a:ext cx="4385972" cy="292608"/>
          </a:xfrm>
          <a:prstGeom prst="roundRect">
            <a:avLst>
              <a:gd name="adj" fmla="val 12500"/>
            </a:avLst>
          </a:prstGeom>
          <a:solidFill>
            <a:srgbClr val="0070F3"/>
          </a:solidFill>
          <a:ln/>
        </p:spPr>
      </p:sp>
      <p:sp>
        <p:nvSpPr>
          <p:cNvPr id="24" name="Text 22"/>
          <p:cNvSpPr/>
          <p:nvPr/>
        </p:nvSpPr>
        <p:spPr>
          <a:xfrm>
            <a:off x="6553100" y="42336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R$ 102.050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764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057400" y="4800600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</p:sp>
      <p:sp>
        <p:nvSpPr>
          <p:cNvPr id="27" name="Shape 25"/>
          <p:cNvSpPr/>
          <p:nvPr/>
        </p:nvSpPr>
        <p:spPr>
          <a:xfrm>
            <a:off x="2057400" y="4800600"/>
            <a:ext cx="4224372" cy="292608"/>
          </a:xfrm>
          <a:prstGeom prst="roundRect">
            <a:avLst>
              <a:gd name="adj" fmla="val 12500"/>
            </a:avLst>
          </a:prstGeom>
          <a:solidFill>
            <a:srgbClr val="0070F3"/>
          </a:solidFill>
          <a:ln/>
        </p:spPr>
      </p:sp>
      <p:sp>
        <p:nvSpPr>
          <p:cNvPr id="28" name="Text 26"/>
          <p:cNvSpPr/>
          <p:nvPr/>
        </p:nvSpPr>
        <p:spPr>
          <a:xfrm>
            <a:off x="6391500" y="47640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R$ 98.290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5294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057400" y="5330952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</p:sp>
      <p:sp>
        <p:nvSpPr>
          <p:cNvPr id="31" name="Shape 29"/>
          <p:cNvSpPr/>
          <p:nvPr/>
        </p:nvSpPr>
        <p:spPr>
          <a:xfrm>
            <a:off x="2057400" y="5330952"/>
            <a:ext cx="3173114" cy="292608"/>
          </a:xfrm>
          <a:prstGeom prst="roundRect">
            <a:avLst>
              <a:gd name="adj" fmla="val 12500"/>
            </a:avLst>
          </a:prstGeom>
          <a:solidFill>
            <a:srgbClr val="52525B"/>
          </a:solidFill>
          <a:ln/>
        </p:spPr>
      </p:sp>
      <p:sp>
        <p:nvSpPr>
          <p:cNvPr id="32" name="Text 30"/>
          <p:cNvSpPr/>
          <p:nvPr/>
        </p:nvSpPr>
        <p:spPr>
          <a:xfrm>
            <a:off x="5340242" y="52943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R$ 73.830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42832" y="3200400"/>
            <a:ext cx="2679192" cy="2743200"/>
          </a:xfrm>
          <a:prstGeom prst="roundRect">
            <a:avLst>
              <a:gd name="adj" fmla="val 3072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17152" y="340156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INSIGHT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17152" y="3712464"/>
            <a:ext cx="2130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baseline converte MAIS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(10,3%) — mas joga 5.924 das 6.000 decisões no Cashback (margem baixa).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217152" y="4736592"/>
            <a:ext cx="2130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LinUCB converte menos,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diversifica para a margem alta e rende +60%.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217152" y="55321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Conversão ≠ valor.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superfícies demonstráveis — ao vivo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74520"/>
            <a:ext cx="5298948" cy="82296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093976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Console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37076" y="2093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:3000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258775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de decisão interativo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= P × margem por oferta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do assistente (LLM/RAG)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874520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3076" y="1874520"/>
            <a:ext cx="5298948" cy="8229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093976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Swagger / OpenAPI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93224" y="2093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/docs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43116" y="258775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interativo da API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POST /decide no navegador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exemplos e reason codes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904488"/>
            <a:ext cx="5298948" cy="82296"/>
          </a:xfrm>
          <a:prstGeom prst="rect">
            <a:avLst/>
          </a:prstGeom>
          <a:solidFill>
            <a:srgbClr val="3291F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123944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37076" y="41239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· :8510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461772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 tempo real + gauges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políticas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decisões auditáveis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3076" y="3904488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23076" y="3904488"/>
            <a:ext cx="5298948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643116" y="4123944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MLflow Tracking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93224" y="41239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 ui · :5000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43116" y="461772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 params + métricas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experimentos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F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de política (registry)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LENDO O BOARD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cada gráfico te conta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5" name="Image 0" descr="C:\Users\Dione\Desktop\datathon-7mlet-grupo-64\datathon-7mlet-grupo-64\.pptx-build/charts/c1_spark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865376"/>
            <a:ext cx="3282696" cy="1197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acumulado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do valor capturado — subir é bom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9" name="Image 1" descr="C:\Users\Dione\Desktop\datathon-7mlet-grupo-64\datathon-7mlet-grupo-64\.pptx-build/charts/c2_gau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3128" y="1865376"/>
            <a:ext cx="3282696" cy="1197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Regret ratio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9976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do ótimo vs. alvo — menor é melhor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19872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C:\Users\Dione\Desktop\datathon-7mlet-grupo-64\datathon-7mlet-grupo-64\.pptx-build/charts/c3_ba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865376"/>
            <a:ext cx="3282696" cy="11978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por política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56448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quanto cada algoritmo rende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7" name="Image 3" descr="C:\Users\Dione\Desktop\datathon-7mlet-grupo-64\datathon-7mlet-grupo-64\.pptx-build/charts/c4_regre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4197096"/>
            <a:ext cx="3282696" cy="11978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Regret acumulado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03504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que achata = a política aprendeu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43400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21" name="Image 4" descr="C:\Users\Dione\Desktop\datathon-7mlet-grupo-64\datathon-7mlet-grupo-64\.pptx-build/charts/c5_donut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53128" y="4197096"/>
            <a:ext cx="3282696" cy="11978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79976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 de ofertas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79976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escolhas — detecta degeneração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19872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25" name="Image 5" descr="C:\Users\Dione\Desktop\datathon-7mlet-grupo-64\datathon-7mlet-grupo-64\.pptx-build/charts/c6_ag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9600" y="4197096"/>
            <a:ext cx="3282696" cy="11978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56448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Conversão por idade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56448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da base: qual perfil converte mais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 (ALVO AZURE)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Camadas claras, segurança gerenciada, escala a zero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Container Apps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jobs, escala a zero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2960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32960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ADLS · Redis · PostgreSQL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2960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off/online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0352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4672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/ 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24672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 · AI Search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24672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 assistente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ML · MLflow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+ registry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58640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32960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OBSERVABILIDADE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32960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Insights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32960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logs, traços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0352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24672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24672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Vault · Managed ID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24672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segredos em env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07492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5074920"/>
            <a:ext cx="10323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descartadas:  </a:t>
            </a:r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(overhead operacional) · segredos em env (risco) · LLM externo (viola “Azure-only”).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DE VIDA MLOPS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feature store ao monitoramento de drift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Store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(Parquet) + online (SQLite). Paridade treino/serving.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88386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9282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3602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2" name="Text 10"/>
          <p:cNvSpPr/>
          <p:nvPr/>
        </p:nvSpPr>
        <p:spPr>
          <a:xfrm>
            <a:off x="3673602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3602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Treino + Tracking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73602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versionados no MLflow; registro de políticas.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0740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1636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5956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8" name="Text 16"/>
          <p:cNvSpPr/>
          <p:nvPr/>
        </p:nvSpPr>
        <p:spPr>
          <a:xfrm>
            <a:off x="6505956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05956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(API)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05956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OpenAPI/Swagger, reason codes e log auditável.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53094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3990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38310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4" name="Text 22"/>
          <p:cNvSpPr/>
          <p:nvPr/>
        </p:nvSpPr>
        <p:spPr>
          <a:xfrm>
            <a:off x="933831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38310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de drift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338310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+ KS, control-chart de reward, relatório EvidentlyAI.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983480"/>
            <a:ext cx="2805379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983480"/>
            <a:ext cx="2805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testes (unit + integração)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573475" y="498348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3475" y="49834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limpo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81651" y="4983480"/>
            <a:ext cx="1711757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1651" y="4983480"/>
            <a:ext cx="17117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94576" y="4983480"/>
            <a:ext cx="2300630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4983480"/>
            <a:ext cx="230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com approval gate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96374" y="4983480"/>
            <a:ext cx="2132381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96374" y="4983480"/>
            <a:ext cx="2132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em 1 comando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GOVERNANÇA · RISCOS · FINOPS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Responsável por design — e com olho no custo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298948" cy="3703320"/>
          </a:xfrm>
          <a:prstGeom prst="roundRect">
            <a:avLst>
              <a:gd name="adj" fmla="val 222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194560"/>
            <a:ext cx="4567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GOVERNANÇA &amp; RISCOS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2606040"/>
            <a:ext cx="45674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+ System Card documentados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LGPD — sem dado pessoal real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no loop nas decisões sensíveis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 política em 1 comando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mapeados: reward hacking, manipulação de contexto, abuso do assistente — mitigados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1965960"/>
            <a:ext cx="5298948" cy="3703320"/>
          </a:xfrm>
          <a:prstGeom prst="roundRect">
            <a:avLst>
              <a:gd name="adj" fmla="val 222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88836" y="2194560"/>
            <a:ext cx="4567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FINOPS (ROI · TCO · ESCALA)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88836" y="2606040"/>
            <a:ext cx="45674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o ganho de valor (+60%) dilui o custo de compute/LLM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só para explicação — não está no caminho crítico da decisão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dominado por Container Apps + Azure OpenAI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↑: réplicas + tier Redis no pico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↓: escala a zero + cache de RAG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TREINO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treinamos na base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rew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replay sobre os eventos reais do Bank Marketing.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margem × conversão · regret = soma das diferenças vs. oráculo · a recompensa pode chegar atrasada (delayed reward).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C:\Users\Dione\Desktop\datathon-7mlet-grupo-64\datathon-7mlet-grupo-64\.pptx-build/tech/code_tra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src/adaptive_offers/simulation/environment.py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CONTROLE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— guloso (controle)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com início otimista · sem exploração ativa.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controle exigido pelo edital — a referência que as políticas adaptativas precisam superar.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C:\Users\Dione\Desktop\datathon-7mlet-grupo-64\datathon-7mlet-grupo-64\.pptx-build/tech/code_bas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src/adaptive_offers/bandits/baseline.py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BAYESIANO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 Sampling (Beta-Bernoulli)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thomp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(1933) · Agrawal &amp; Goyal (2012).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Amostrar do posterior É a exploração: braços com pouca evidência têm posterior largo e às vezes são sorteados alto.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C:\Users\Dione\Desktop\datathon-7mlet-grupo-64\datathon-7mlet-grupo-64\.pptx-build/tech/code_thomp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src/adaptive_offers/bandits/thompson.py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UCB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 — UCB-V (consciente de variância)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nil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Audibert, Munos &amp; Szepesvári (2009) — UCB-V.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bônus usa a variância empírica do braço (Welford online); ofertas de alta incerteza são exploradas mais cedo.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C:\Users\Dione\Desktop\datathon-7mlet-grupo-64\datathon-7mlet-grupo-64\.pptx-build/tech/code_nil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src/adaptive_offers/bandits/ucb.py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CONTEXTUAL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 — bandit contextual (vencedor)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linuc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Chu, Langford &amp; Schapire (2010).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por braço sobre o contexto + bônus de incerteza → roteia a oferta certa para o perfil certo. Foi a política vencedora (+59,9%).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C:\Users\Dione\Desktop\datathon-7mlet-grupo-64\datathon-7mlet-grupo-64\.pptx-build/tech/code_linuc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src/adaptive_offers/bandits/linucb.py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64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IMPACTO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Decide, aprende e se explica.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em tempo real a oferta de maior valor esperado para cada cliente — com governança pronta para produção e decisões auditáveis.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vs. baseline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9,1%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7296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ratio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7900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77900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auditáveis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806440"/>
            <a:ext cx="11055096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Dione Braga · Grupo 64 · FIAP Pós-Tech 7MLET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64424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FIAP Pós-Tech 7MLET — Grupo 64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Offers Platform — Pitch</dc:title>
  <dc:subject>PptxGenJS Presentation</dc:subject>
  <dc:creator>Dione Braga</dc:creator>
  <cp:lastModifiedBy>Dione Braga</cp:lastModifiedBy>
  <cp:revision>1</cp:revision>
  <dcterms:created xsi:type="dcterms:W3CDTF">2026-06-18T14:47:40Z</dcterms:created>
  <dcterms:modified xsi:type="dcterms:W3CDTF">2026-06-18T14:47:40Z</dcterms:modified>
</cp:coreProperties>
</file>