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000000">
              <a:alpha val="8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FIAP PÓS-TECH · 7MLET · DATATHON · GRUPO 64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8745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Adaptive Offers Platform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ofertas financeiras em tempo real com multi-armed bandits contextuais e assistente LLM/RAG.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198973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114800"/>
            <a:ext cx="19897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 Contextual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57830" y="4114800"/>
            <a:ext cx="179222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7830" y="411480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Margin-Weighted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1222" y="4114800"/>
            <a:ext cx="1397203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1222" y="4114800"/>
            <a:ext cx="13972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Ready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49594" y="4114800"/>
            <a:ext cx="705917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49594" y="4114800"/>
            <a:ext cx="7059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870448"/>
            <a:ext cx="164592" cy="164592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" y="5742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 ·  Grupo 64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964424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© 2026 · Licença MIT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PROBLEMA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 impressão é uma decisão de valor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94560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Regras fixas envelhecem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59536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idade &gt; 60, mostre depósito.” Não aprendem com o comportamento e ficam obsoletas.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73880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6488" y="2194560"/>
            <a:ext cx="182880" cy="1828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940808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Testes A/B são lentos e caros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66488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Queimam semanas de tráfego na variante ruim até atingir significância estatística.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80832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73440" y="2194560"/>
            <a:ext cx="182880" cy="182880"/>
          </a:xfrm>
          <a:prstGeom prst="ellipse">
            <a:avLst/>
          </a:prstGeom>
          <a:solidFill>
            <a:srgbClr val="3291FF"/>
          </a:solidFill>
          <a:ln/>
        </p:spPr>
      </p:sp>
      <p:sp>
        <p:nvSpPr>
          <p:cNvPr id="14" name="Text 12"/>
          <p:cNvSpPr/>
          <p:nvPr/>
        </p:nvSpPr>
        <p:spPr>
          <a:xfrm>
            <a:off x="8747760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≠ lucro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73440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cliques ignora a margem e o contexto — você converte mais e ganha menos.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34840"/>
            <a:ext cx="11055096" cy="1371600"/>
          </a:xfrm>
          <a:prstGeom prst="roundRect">
            <a:avLst>
              <a:gd name="adj" fmla="val 6667"/>
            </a:avLst>
          </a:prstGeom>
          <a:solidFill>
            <a:srgbClr val="16161A"/>
          </a:solidFill>
          <a:ln w="17780">
            <a:solidFill>
              <a:srgbClr val="0070F3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24128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PERGUNTA CENTRAL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" y="4983480"/>
            <a:ext cx="10140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 oferta mostrar para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este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cliente,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agora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para maximizar o valor?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ABORDAGEM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 sistema que decide, aprende e se explica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77824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Bandit contextual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 vs. explota e aprende online a cada decisão — sem esperar o fim de um A/B.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77824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LinUCB · Thompson · UCB-V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3880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4776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3" name="Text 11"/>
          <p:cNvSpPr/>
          <p:nvPr/>
        </p:nvSpPr>
        <p:spPr>
          <a:xfrm>
            <a:off x="4684776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84776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Recompensa por margem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84776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P(conversão) × margem. Otimiza lucro, não cliques.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84776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84776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Margin-Weighted Ranking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80832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91728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20" name="Text 18"/>
          <p:cNvSpPr/>
          <p:nvPr/>
        </p:nvSpPr>
        <p:spPr>
          <a:xfrm>
            <a:off x="849172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91728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Assistente LLM + RAG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91728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experimentos e explica cada decisão com reason codes auditáveis.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491728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91728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Explicabilidade ·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&amp; ENRIQUECIMENTO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+ camada sintética com oráculo conhecido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59536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9536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Marketing (Kaggle/UCI). Sem vazamento: duration removido. Nenhum dado real de cliente.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4968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465320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7928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757928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 sintética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7928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offer_catalog, offer_events e delayed rewards gerados por seeds reprodutíveis.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833360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363712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56320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656320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Oráculo → Regret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56320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conhecemos o ótimo do gerador, medimos regret (distância do ótimo).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5029200"/>
            <a:ext cx="11055096" cy="868680"/>
          </a:xfrm>
          <a:prstGeom prst="roundRect">
            <a:avLst>
              <a:gd name="adj" fmla="val 10526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5029200"/>
            <a:ext cx="10323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29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sintético?  </a:t>
            </a:r>
            <a:pPr indent="0" marL="0">
              <a:buNone/>
            </a:pP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recompensas atrasadas, oráculo mensurável e conformidade — nenhum dado pessoal real é usado (LGPD by design).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políticas competindo (+1 neural)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2075688"/>
            <a:ext cx="64008" cy="1106424"/>
          </a:xfrm>
          <a:prstGeom prst="rect">
            <a:avLst/>
          </a:prstGeom>
          <a:solidFill>
            <a:srgbClr val="52525B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77824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guloso — referência para medir o lift.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7356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7356" y="2075688"/>
            <a:ext cx="64008" cy="110642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6588252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588252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Beta-Bernoulli. Exploração probabilística por amostragem.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" y="3694176"/>
            <a:ext cx="64008" cy="1106424"/>
          </a:xfrm>
          <a:prstGeom prst="rect">
            <a:avLst/>
          </a:prstGeom>
          <a:solidFill>
            <a:srgbClr val="3291F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(UCB-V)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877824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Otimismo consciente da variância do braço.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7356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7356" y="3694176"/>
            <a:ext cx="64008" cy="1106424"/>
          </a:xfrm>
          <a:prstGeom prst="rect">
            <a:avLst/>
          </a:prstGeom>
          <a:solidFill>
            <a:srgbClr val="0070F3"/>
          </a:solidFill>
          <a:ln/>
        </p:spPr>
      </p:sp>
      <p:sp>
        <p:nvSpPr>
          <p:cNvPr id="18" name="Text 16"/>
          <p:cNvSpPr/>
          <p:nvPr/>
        </p:nvSpPr>
        <p:spPr>
          <a:xfrm>
            <a:off x="6588252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(contextual)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6588252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linear sobre o contexto — a política vencedora.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544068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buNone/>
            </a:pPr>
            <a:r>
              <a:rPr lang="en-US" sz="13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Bandit (PyTorch MLP, MC-dropout) como 5ª política opcional · </a:t>
            </a:r>
            <a:pPr indent="0" marL="0"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e recompensas atrasadas tratados explicitamente.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BRAÇOS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ofertas, margens diferentes — por isso a margem importa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Empréstimo Pré-aprovado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6" name="Shape 4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10643616" y="19659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R$ 300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67328" y="2276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credit · restrita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56946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Depósito a Prazo Premium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767328" y="2624328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11" name="Shape 9"/>
          <p:cNvSpPr/>
          <p:nvPr/>
        </p:nvSpPr>
        <p:spPr>
          <a:xfrm>
            <a:off x="3767328" y="2624328"/>
            <a:ext cx="4511040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</p:sp>
      <p:sp>
        <p:nvSpPr>
          <p:cNvPr id="12" name="Text 10"/>
          <p:cNvSpPr/>
          <p:nvPr/>
        </p:nvSpPr>
        <p:spPr>
          <a:xfrm>
            <a:off x="10643616" y="25694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R$ 200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67328" y="28803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deposit · padrão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6928" y="31729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Intro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767328" y="3227832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7328" y="3227832"/>
            <a:ext cx="4059936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10643616" y="31729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R$ 180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67328" y="3483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 · restrita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66928" y="37764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Cartão Cashback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67328" y="3831336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7328" y="3831336"/>
            <a:ext cx="2706624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</p:sp>
      <p:sp>
        <p:nvSpPr>
          <p:cNvPr id="22" name="Text 20"/>
          <p:cNvSpPr/>
          <p:nvPr/>
        </p:nvSpPr>
        <p:spPr>
          <a:xfrm>
            <a:off x="10643616" y="37764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R$ 120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67328" y="40873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· padrão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" y="4379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Seguro Bundle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767328" y="4434840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7328" y="4434840"/>
            <a:ext cx="2029968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</p:sp>
      <p:sp>
        <p:nvSpPr>
          <p:cNvPr id="27" name="Text 25"/>
          <p:cNvSpPr/>
          <p:nvPr/>
        </p:nvSpPr>
        <p:spPr>
          <a:xfrm>
            <a:off x="10643616" y="43799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R$ 90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6908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insurance · padrão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" y="49834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 Oferta (controle)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3767328" y="503834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31" name="Shape 29"/>
          <p:cNvSpPr/>
          <p:nvPr/>
        </p:nvSpPr>
        <p:spPr>
          <a:xfrm>
            <a:off x="3767328" y="5038344"/>
            <a:ext cx="109728" cy="274320"/>
          </a:xfrm>
          <a:prstGeom prst="roundRect">
            <a:avLst>
              <a:gd name="adj" fmla="val 125000"/>
            </a:avLst>
          </a:prstGeom>
          <a:solidFill>
            <a:srgbClr val="0070F3"/>
          </a:solidFill>
          <a:ln/>
        </p:spPr>
      </p:sp>
      <p:sp>
        <p:nvSpPr>
          <p:cNvPr id="32" name="Text 30"/>
          <p:cNvSpPr/>
          <p:nvPr/>
        </p:nvSpPr>
        <p:spPr>
          <a:xfrm>
            <a:off x="10643616" y="4983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767328" y="52943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66928" y="5989320"/>
            <a:ext cx="146304" cy="14630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5" name="Text 33"/>
          <p:cNvSpPr/>
          <p:nvPr/>
        </p:nvSpPr>
        <p:spPr>
          <a:xfrm>
            <a:off x="804672" y="59070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restrita (gate de elegibilidade/suitability)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13248" y="5989320"/>
            <a:ext cx="146304" cy="14630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37" name="Text 35"/>
          <p:cNvSpPr/>
          <p:nvPr/>
        </p:nvSpPr>
        <p:spPr>
          <a:xfrm>
            <a:off x="5650992" y="59070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DECISÃO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 → elegibilidade → política → log auditável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24966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1324966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65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9494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idade, canal, juros, histórico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4020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281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0849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2" name="Text 10"/>
          <p:cNvSpPr/>
          <p:nvPr/>
        </p:nvSpPr>
        <p:spPr>
          <a:xfrm>
            <a:off x="3590849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4253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Elegibilidade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6082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suitability / risco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6086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98694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56732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8" name="Text 16"/>
          <p:cNvSpPr/>
          <p:nvPr/>
        </p:nvSpPr>
        <p:spPr>
          <a:xfrm>
            <a:off x="5856732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08422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Política ativa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26710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o braço de maior valor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71970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6457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22615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24" name="Text 22"/>
          <p:cNvSpPr/>
          <p:nvPr/>
        </p:nvSpPr>
        <p:spPr>
          <a:xfrm>
            <a:off x="8122615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430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 codes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9259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versão da política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3785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63046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388498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30" name="Text 28"/>
          <p:cNvSpPr/>
          <p:nvPr/>
        </p:nvSpPr>
        <p:spPr>
          <a:xfrm>
            <a:off x="10388498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4018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 auditável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5847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 (LGPD)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4160520"/>
            <a:ext cx="11055096" cy="1691640"/>
          </a:xfrm>
          <a:prstGeom prst="roundRect">
            <a:avLst>
              <a:gd name="adj" fmla="val 5405"/>
            </a:avLst>
          </a:prstGeom>
          <a:solidFill>
            <a:srgbClr val="16161A"/>
          </a:solidFill>
          <a:ln w="16510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78408" y="4370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EXEMPLO REAL — MARGEM VENCE CONVERSÃO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78408" y="4709160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Cliente 60 anos, com empréstimo ativo  →  escolhido: </a:t>
            </a:r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(R$ 15,4)</a:t>
            </a:r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978408" y="5212080"/>
            <a:ext cx="10232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Seguro tinha MAIOR conversão (10,9%), mas a margem baixa (R$90) perdeu para o Fundo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(8,6% × R$180). A oferta de Empréstimo foi filtrada pela elegibilidade.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EVIDÊNCIAS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capturou +60% de valor vs. baseline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+59,9%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58368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vs. baseline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9282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90722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9,1%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3490722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ratio (↓ é melhor)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1636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23076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5A6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/ 6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6323076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 usadas (baseline: 1)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63990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5430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13%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55430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exploração saudável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33101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ACUMULADO POR POLÍTICA (R$)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19" name="Shape 17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34D399"/>
          </a:solidFill>
          <a:ln/>
        </p:spPr>
      </p:sp>
      <p:sp>
        <p:nvSpPr>
          <p:cNvPr id="20" name="Text 18"/>
          <p:cNvSpPr/>
          <p:nvPr/>
        </p:nvSpPr>
        <p:spPr>
          <a:xfrm>
            <a:off x="7242048" y="37033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R$ 118.080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4233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7400" y="4270248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23" name="Shape 21"/>
          <p:cNvSpPr/>
          <p:nvPr/>
        </p:nvSpPr>
        <p:spPr>
          <a:xfrm>
            <a:off x="2057400" y="4270248"/>
            <a:ext cx="4385972" cy="292608"/>
          </a:xfrm>
          <a:prstGeom prst="roundRect">
            <a:avLst>
              <a:gd name="adj" fmla="val 12500"/>
            </a:avLst>
          </a:prstGeom>
          <a:solidFill>
            <a:srgbClr val="0070F3"/>
          </a:solidFill>
          <a:ln/>
        </p:spPr>
      </p:sp>
      <p:sp>
        <p:nvSpPr>
          <p:cNvPr id="24" name="Text 22"/>
          <p:cNvSpPr/>
          <p:nvPr/>
        </p:nvSpPr>
        <p:spPr>
          <a:xfrm>
            <a:off x="6553100" y="42336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R$ 102.050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47640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2057400" y="4800600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7400" y="4800600"/>
            <a:ext cx="4224372" cy="292608"/>
          </a:xfrm>
          <a:prstGeom prst="roundRect">
            <a:avLst>
              <a:gd name="adj" fmla="val 12500"/>
            </a:avLst>
          </a:prstGeom>
          <a:solidFill>
            <a:srgbClr val="0070F3"/>
          </a:solidFill>
          <a:ln/>
        </p:spPr>
      </p:sp>
      <p:sp>
        <p:nvSpPr>
          <p:cNvPr id="28" name="Text 26"/>
          <p:cNvSpPr/>
          <p:nvPr/>
        </p:nvSpPr>
        <p:spPr>
          <a:xfrm>
            <a:off x="6391500" y="47640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R$ 98.290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66928" y="52943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2057400" y="5330952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31" name="Shape 29"/>
          <p:cNvSpPr/>
          <p:nvPr/>
        </p:nvSpPr>
        <p:spPr>
          <a:xfrm>
            <a:off x="2057400" y="5330952"/>
            <a:ext cx="3173114" cy="292608"/>
          </a:xfrm>
          <a:prstGeom prst="roundRect">
            <a:avLst>
              <a:gd name="adj" fmla="val 12500"/>
            </a:avLst>
          </a:prstGeom>
          <a:solidFill>
            <a:srgbClr val="52525B"/>
          </a:solidFill>
          <a:ln/>
        </p:spPr>
      </p:sp>
      <p:sp>
        <p:nvSpPr>
          <p:cNvPr id="32" name="Text 30"/>
          <p:cNvSpPr/>
          <p:nvPr/>
        </p:nvSpPr>
        <p:spPr>
          <a:xfrm>
            <a:off x="5340242" y="52943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R$ 73.830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942832" y="3200400"/>
            <a:ext cx="2679192" cy="2743200"/>
          </a:xfrm>
          <a:prstGeom prst="roundRect">
            <a:avLst>
              <a:gd name="adj" fmla="val 3072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217152" y="3401568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INSIGHT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17152" y="3712464"/>
            <a:ext cx="2130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baseline converte MAIS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(10,3%) — mas joga 5.924 das 6.000 decisões no Cashback (margem baixa).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217152" y="4736592"/>
            <a:ext cx="2130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LinUCB converte menos,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diversifica para a margem alta e rende +60%.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217152" y="5532120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≠ valor.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superfícies demonstráveis — ao vivo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874520"/>
            <a:ext cx="5298948" cy="82296"/>
          </a:xfrm>
          <a:prstGeom prst="rect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Console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037076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· :3000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Explorador de decisão interativo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= P × margem por oferta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Explicação do assistente (LLM/RAG)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23076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23076" y="1874520"/>
            <a:ext cx="5298948" cy="8229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6643116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Swagger / OpenAPI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93224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/docs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43116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interativo da API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POST /decide no navegador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Schemas, exemplos e reason codes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" y="3904488"/>
            <a:ext cx="5298948" cy="82296"/>
          </a:xfrm>
          <a:prstGeom prst="rect">
            <a:avLst/>
          </a:prstGeom>
          <a:solidFill>
            <a:srgbClr val="3291FF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Observability Board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037076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· :8510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em tempo real + gauges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políticas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decisões auditáveis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3076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23076" y="3904488"/>
            <a:ext cx="5298948" cy="8229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6643116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MLflow Tracking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93224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mlflow ui · :5000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43116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com params + métricas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experimentos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Versões de política (registry)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 (ALVO AZURE)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Camadas claras, segurança gerenciada, escala a zero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Container Apps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jobs, escala a zero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32960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32960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ADLS · Redis · PostgreSQL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32960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 off/online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0352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24672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 / LLM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24672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OpenAI · AI Search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24672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do assistente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1248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MLOPS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ML · MLflow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41248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+ registry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8640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32960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OBSERVABILIDADE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32960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Insights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32960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logs, traços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0352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24672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24672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Vault · Managed ID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424672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segredos em env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074920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5074920"/>
            <a:ext cx="10323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descartadas:  </a:t>
            </a:r>
            <a:pPr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(overhead operacional) · segredos em env (risco) · LLM externo (viola “Azure-only”).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CICLO DE VIDA MLOPS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feature store ao monitoramento de drift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Store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(Parquet) + online (SQLite). Paridade treino/serving.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088386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99282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73602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2" name="Text 10"/>
          <p:cNvSpPr/>
          <p:nvPr/>
        </p:nvSpPr>
        <p:spPr>
          <a:xfrm>
            <a:off x="3673602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3602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Treino + Tracking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73602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experimentos versionados no MLflow; registro de políticas.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20740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31636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05956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8" name="Text 16"/>
          <p:cNvSpPr/>
          <p:nvPr/>
        </p:nvSpPr>
        <p:spPr>
          <a:xfrm>
            <a:off x="6505956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05956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Serving (API)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505956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OpenAPI/Swagger, reason codes e log auditável.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753094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63990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338310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24" name="Text 22"/>
          <p:cNvSpPr/>
          <p:nvPr/>
        </p:nvSpPr>
        <p:spPr>
          <a:xfrm>
            <a:off x="933831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38310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 de drift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338310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+ KS, control-chart de reward, relatório EvidentlyAI.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983480"/>
            <a:ext cx="2805379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983480"/>
            <a:ext cx="28053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testes (unit + integração)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573475" y="498348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73475" y="49834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limpo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981651" y="4983480"/>
            <a:ext cx="1711757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81651" y="4983480"/>
            <a:ext cx="17117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894576" y="4983480"/>
            <a:ext cx="2300630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94576" y="4983480"/>
            <a:ext cx="2300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com approval gate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96374" y="4983480"/>
            <a:ext cx="2132381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96374" y="4983480"/>
            <a:ext cx="21323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em 1 comando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· RISCOS · FINOPS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Responsável por design — e com olho no custo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&amp; RISCOS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 + System Card documentados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LGPD — sem dado pessoal real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no loop nas decisões sensíveis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de política em 1 comando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mapeados: reward hacking, manipulação de contexto, abuso do assistente — mitigados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3076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88836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FINOPS (ROI · TCO · ESCALA)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88836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o ganho de valor (+60%) dilui o custo de compute/LLM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só para explicação — não está no caminho crítico da decisão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dominado por Container Apps + Azure OpenAI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↑: réplicas + tier Redis no pico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↓: escala a zero + cache de RAG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IMPACTO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Decide, aprende e se explica.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06324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em tempo real a oferta de maior valor esperado para cada cliente — com governança pronta para produção e decisões auditáveis.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+60%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6692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vs. baseline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7296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9,1%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17296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ratio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77900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77900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auditáveis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806440"/>
            <a:ext cx="11055096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· Grupo 64 · FIAP Pós-Tech 7MLET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64424" y="5943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Obrigado.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FIAP Pós-Tech 7MLET — Grupo 64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Offers Platform — Pitch</dc:title>
  <dc:subject>PptxGenJS Presentation</dc:subject>
  <dc:creator>Dione Braga</dc:creator>
  <cp:lastModifiedBy>Dione Braga</cp:lastModifiedBy>
  <cp:revision>1</cp:revision>
  <dcterms:created xsi:type="dcterms:W3CDTF">2026-06-18T03:54:10Z</dcterms:created>
  <dcterms:modified xsi:type="dcterms:W3CDTF">2026-06-18T03:54:10Z</dcterms:modified>
</cp:coreProperties>
</file>