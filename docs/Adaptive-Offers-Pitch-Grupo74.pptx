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6"/>
    <p:sldId id="276" r:id="rId27"/>
    <p:sldId id="278" r:id="rId2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22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62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FIAP PÓS-TECH · 7MLET · DATATHON · GRUPO 74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8745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Adaptive Offers Platform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66928" y="31546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6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de ofertas financeiras em tempo real com multi-armed bandits contextuais e assistente LLM/RAG.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" y="4114800"/>
            <a:ext cx="1989734" cy="384048"/>
          </a:xfrm>
          <a:prstGeom prst="roundRect">
            <a:avLst>
              <a:gd name="adj" fmla="val 50000"/>
            </a:avLst>
          </a:prstGeom>
          <a:solidFill>
            <a:srgbClr val="0070F3">
              <a:alpha val="22000"/>
            </a:srgbClr>
          </a:solidFill>
          <a:ln w="12700">
            <a:solidFill>
              <a:srgbClr val="0070F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66928" y="4114800"/>
            <a:ext cx="19897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Contextual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57830" y="4114800"/>
            <a:ext cx="1792224" cy="384048"/>
          </a:xfrm>
          <a:prstGeom prst="roundRect">
            <a:avLst>
              <a:gd name="adj" fmla="val 50000"/>
            </a:avLst>
          </a:prstGeom>
          <a:solidFill>
            <a:srgbClr val="0070F3">
              <a:alpha val="22000"/>
            </a:srgbClr>
          </a:solidFill>
          <a:ln w="12700">
            <a:solidFill>
              <a:srgbClr val="0070F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757830" y="411480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Margin-Weighted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1222" y="4114800"/>
            <a:ext cx="1397203" cy="384048"/>
          </a:xfrm>
          <a:prstGeom prst="roundRect">
            <a:avLst>
              <a:gd name="adj" fmla="val 50000"/>
            </a:avLst>
          </a:prstGeom>
          <a:solidFill>
            <a:srgbClr val="0070F3">
              <a:alpha val="22000"/>
            </a:srgbClr>
          </a:solidFill>
          <a:ln w="12700">
            <a:solidFill>
              <a:srgbClr val="0070F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51222" y="4114800"/>
            <a:ext cx="13972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Ready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49594" y="4114800"/>
            <a:ext cx="705917" cy="384048"/>
          </a:xfrm>
          <a:prstGeom prst="roundRect">
            <a:avLst>
              <a:gd name="adj" fmla="val 50000"/>
            </a:avLst>
          </a:prstGeom>
          <a:solidFill>
            <a:srgbClr val="0070F3">
              <a:alpha val="22000"/>
            </a:srgbClr>
          </a:solidFill>
          <a:ln w="12700">
            <a:solidFill>
              <a:srgbClr val="0070F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49594" y="4114800"/>
            <a:ext cx="7059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5870448"/>
            <a:ext cx="164592" cy="164592"/>
          </a:xfrm>
          <a:prstGeom prst="ellipse">
            <a:avLst/>
          </a:prstGeom>
          <a:solidFill>
            <a:srgbClr val="0070F3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59536" y="57424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Dione Braga  ·  Grupo 74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964424" y="5760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© 2026 · Licença MIT</a:t>
            </a:r>
            <a:endParaRPr lang="en-US" sz="1100" dirty="0"/>
          </a:p>
        </p:txBody>
      </p:sp>
      <p:sp>
        <p:nvSpPr>
          <p:cNvPr id="18" name="ao_logo_badge"/>
          <p:cNvSpPr/>
          <p:nvPr/>
        </p:nvSpPr>
        <p:spPr>
          <a:xfrm>
            <a:off x="11089386" y="342138"/>
            <a:ext cx="687324" cy="687324"/>
          </a:xfrm>
          <a:prstGeom prst="roundRect">
            <a:avLst>
              <a:gd name="adj" fmla="val 28000"/>
            </a:avLst>
          </a:prstGeom>
          <a:solidFill>
            <a:srgbClr val="030D24"/>
          </a:solidFill>
          <a:ln w="19050">
            <a:solidFill>
              <a:srgbClr val="1A6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237785" y="748284"/>
            <a:ext cx="81229" cy="140589"/>
          </a:xfrm>
          <a:prstGeom prst="roundRect">
            <a:avLst>
              <a:gd name="adj" fmla="val 35000"/>
            </a:avLst>
          </a:prstGeom>
          <a:solidFill>
            <a:srgbClr val="143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376812" y="654558"/>
            <a:ext cx="81229" cy="234315"/>
          </a:xfrm>
          <a:prstGeom prst="roundRect">
            <a:avLst>
              <a:gd name="adj" fmla="val 35000"/>
            </a:avLst>
          </a:prstGeom>
          <a:solidFill>
            <a:srgbClr val="1A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515839" y="545211"/>
            <a:ext cx="81229" cy="343662"/>
          </a:xfrm>
          <a:prstGeom prst="roundRect">
            <a:avLst>
              <a:gd name="adj" fmla="val 35000"/>
            </a:avLst>
          </a:prstGeom>
          <a:solidFill>
            <a:srgbClr val="003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11229975" y="685800"/>
            <a:ext cx="187452" cy="10153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1417427" y="506158"/>
            <a:ext cx="140589" cy="17964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1500218" y="448360"/>
            <a:ext cx="115595" cy="115595"/>
          </a:xfrm>
          <a:prstGeom prst="ellipse">
            <a:avLst/>
          </a:prstGeom>
          <a:solidFill>
            <a:srgbClr val="FFC200"/>
          </a:solidFill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PROBLEMA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 impressão é uma decisão de valor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3441192" cy="2148840"/>
          </a:xfrm>
          <a:prstGeom prst="roundRect">
            <a:avLst>
              <a:gd name="adj" fmla="val 3830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59536" y="2194560"/>
            <a:ext cx="182880" cy="182880"/>
          </a:xfrm>
          <a:prstGeom prst="ellipse">
            <a:avLst/>
          </a:prstGeom>
          <a:solidFill>
            <a:srgbClr val="e8400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33856" y="2103120"/>
            <a:ext cx="2618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Regras fixas envelhecem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59536" y="2697480"/>
            <a:ext cx="2855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 idade &gt; 60, mostre depósito.” Não aprendem com o comportamento e ficam obsoletas.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73880" y="1874520"/>
            <a:ext cx="3441192" cy="2148840"/>
          </a:xfrm>
          <a:prstGeom prst="roundRect">
            <a:avLst>
              <a:gd name="adj" fmla="val 3830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666488" y="2194560"/>
            <a:ext cx="182880" cy="18288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940808" y="2103120"/>
            <a:ext cx="2618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Testes A/B são lentos e caros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666488" y="2697480"/>
            <a:ext cx="2855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Queimam semanas de tráfego na variante ruim até atingir significância estatística.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80832" y="1874520"/>
            <a:ext cx="3441192" cy="2148840"/>
          </a:xfrm>
          <a:prstGeom prst="roundRect">
            <a:avLst>
              <a:gd name="adj" fmla="val 3830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473440" y="2194560"/>
            <a:ext cx="182880" cy="182880"/>
          </a:xfrm>
          <a:prstGeom prst="ellipse">
            <a:avLst/>
          </a:prstGeom>
          <a:solidFill>
            <a:srgbClr val="3291FF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747760" y="2103120"/>
            <a:ext cx="2618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Conversão ≠ lucro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473440" y="2697480"/>
            <a:ext cx="2855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Otimizar cliques ignora a margem e o contexto — você converte mais e ganha menos.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34840"/>
            <a:ext cx="11055096" cy="1371600"/>
          </a:xfrm>
          <a:prstGeom prst="roundRect">
            <a:avLst>
              <a:gd name="adj" fmla="val 6667"/>
            </a:avLst>
          </a:prstGeom>
          <a:solidFill>
            <a:srgbClr val="16161A"/>
          </a:solidFill>
          <a:ln w="17780">
            <a:solidFill>
              <a:srgbClr val="0070F3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24128" y="4681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PERGUNTA CENTRAL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24128" y="4983480"/>
            <a:ext cx="10140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 oferta mostrar para </a:t>
            </a:r>
            <a:pPr indent="0" marL="0">
              <a:buNone/>
            </a:pPr>
            <a:r>
              <a:rPr lang="en-US" sz="2600" b="1" i="1" dirty="0">
                <a:solidFill>
                  <a:srgbClr val="329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este</a:t>
            </a:r>
            <a:pPr indent="0" marL="0">
              <a:buNone/>
            </a:pPr>
            <a:r>
              <a:rPr lang="en-US" sz="26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cliente, </a:t>
            </a:r>
            <a:pPr indent="0" marL="0">
              <a:buNone/>
            </a:pPr>
            <a:r>
              <a:rPr lang="en-US" sz="2600" b="1" i="1" dirty="0">
                <a:solidFill>
                  <a:srgbClr val="329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agora</a:t>
            </a:r>
            <a:pPr indent="0" marL="0">
              <a:buNone/>
            </a:pPr>
            <a:r>
              <a:rPr lang="en-US" sz="26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para maximizar o valor?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74 · FIAP PÓS-TECH 7MLET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ABORDAGEM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 sistema que decide, aprende e se explica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3441192" cy="3383280"/>
          </a:xfrm>
          <a:prstGeom prst="roundRect">
            <a:avLst>
              <a:gd name="adj" fmla="val 2432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77824" y="2240280"/>
            <a:ext cx="512064" cy="512064"/>
          </a:xfrm>
          <a:prstGeom prst="ellipse">
            <a:avLst/>
          </a:prstGeom>
          <a:solidFill>
            <a:srgbClr val="0070F3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77824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7824" y="2971800"/>
            <a:ext cx="281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Bandit contextual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7824" y="3520440"/>
            <a:ext cx="2819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vs. explota e aprende online a cada decisão — sem esperar o fim de um A/B.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77824" y="4736592"/>
            <a:ext cx="2819400" cy="0"/>
          </a:xfrm>
          <a:prstGeom prst="line">
            <a:avLst/>
          </a:prstGeom>
          <a:noFill/>
          <a:ln w="12700">
            <a:solidFill>
              <a:srgbClr val="2A2A3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77824" y="4828032"/>
            <a:ext cx="281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LinUCB · Thompson · UCB-V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73880" y="1920240"/>
            <a:ext cx="3441192" cy="3383280"/>
          </a:xfrm>
          <a:prstGeom prst="roundRect">
            <a:avLst>
              <a:gd name="adj" fmla="val 2432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84776" y="2240280"/>
            <a:ext cx="512064" cy="512064"/>
          </a:xfrm>
          <a:prstGeom prst="ellipse">
            <a:avLst/>
          </a:prstGeom>
          <a:solidFill>
            <a:srgbClr val="0070F3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84776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84776" y="2971800"/>
            <a:ext cx="281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Recompensa por margem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84776" y="3520440"/>
            <a:ext cx="2819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= P(conversão) × margem. Otimiza lucro, não cliques.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84776" y="4736592"/>
            <a:ext cx="2819400" cy="0"/>
          </a:xfrm>
          <a:prstGeom prst="line">
            <a:avLst/>
          </a:prstGeom>
          <a:noFill/>
          <a:ln w="12700">
            <a:solidFill>
              <a:srgbClr val="2A2A3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684776" y="4828032"/>
            <a:ext cx="281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Margin-Weighted Ranking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80832" y="1920240"/>
            <a:ext cx="3441192" cy="3383280"/>
          </a:xfrm>
          <a:prstGeom prst="roundRect">
            <a:avLst>
              <a:gd name="adj" fmla="val 2432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491728" y="2240280"/>
            <a:ext cx="512064" cy="512064"/>
          </a:xfrm>
          <a:prstGeom prst="ellipse">
            <a:avLst/>
          </a:prstGeom>
          <a:solidFill>
            <a:srgbClr val="0070F3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491728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91728" y="2971800"/>
            <a:ext cx="281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Assistente LLM + RAG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91728" y="3520440"/>
            <a:ext cx="2819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experimentos e explica cada decisão com reason codes auditáveis.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491728" y="4736592"/>
            <a:ext cx="2819400" cy="0"/>
          </a:xfrm>
          <a:prstGeom prst="line">
            <a:avLst/>
          </a:prstGeom>
          <a:noFill/>
          <a:ln w="12700">
            <a:solidFill>
              <a:srgbClr val="2A2A3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491728" y="4828032"/>
            <a:ext cx="281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Explicabilidade · offline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74 · FIAP PÓS-TECH 7MLET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 &amp; ENRIQUECIMENTO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factual + camada sintética com oráculo conhecido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2057400"/>
            <a:ext cx="3258312" cy="2651760"/>
          </a:xfrm>
          <a:prstGeom prst="roundRect">
            <a:avLst>
              <a:gd name="adj" fmla="val 3103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59536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29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59536" y="3035808"/>
            <a:ext cx="2673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factual real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59536" y="3547872"/>
            <a:ext cx="2673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Marketing real (UCI · 41.188 contatos públicos). Sem vazamento: duration removido.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934968" y="315468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0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465320" y="2057400"/>
            <a:ext cx="3258312" cy="2651760"/>
          </a:xfrm>
          <a:prstGeom prst="roundRect">
            <a:avLst>
              <a:gd name="adj" fmla="val 3103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757928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29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757928" y="3035808"/>
            <a:ext cx="2673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Camada sintética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57928" y="3547872"/>
            <a:ext cx="2673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offer_catalog, offer_events e delayed rewards gerados por seeds reprodutíveis.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833360" y="315468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0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363712" y="2057400"/>
            <a:ext cx="3258312" cy="2651760"/>
          </a:xfrm>
          <a:prstGeom prst="roundRect">
            <a:avLst>
              <a:gd name="adj" fmla="val 3103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5632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9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656320" y="3035808"/>
            <a:ext cx="2673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Oráculo → Regret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656320" y="3547872"/>
            <a:ext cx="2673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conhecemos o ótimo do gerador, medimos regret (distância do ótimo).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5029200"/>
            <a:ext cx="11055096" cy="868680"/>
          </a:xfrm>
          <a:prstGeom prst="roundRect">
            <a:avLst>
              <a:gd name="adj" fmla="val 10526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32688" y="5029200"/>
            <a:ext cx="10323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29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sintético?  </a:t>
            </a:r>
            <a:pPr indent="0" marL="0">
              <a:buNone/>
            </a:pPr>
            <a:r>
              <a:rPr lang="en-US" sz="14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recompensas atrasadas, oráculo mensurável e conformidade — nenhum dado pessoal real é usado (LGPD by design).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74 · FIAP PÓS-TECH 7MLET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MODELAGEM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Quatro políticas competindo (+1 neural)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5344668" cy="1325880"/>
          </a:xfrm>
          <a:prstGeom prst="roundRect">
            <a:avLst>
              <a:gd name="adj" fmla="val 6207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6928" y="2075688"/>
            <a:ext cx="64008" cy="1106424"/>
          </a:xfrm>
          <a:prstGeom prst="rect">
            <a:avLst/>
          </a:prstGeom>
          <a:solidFill>
            <a:srgbClr val="52525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77824" y="2167128"/>
            <a:ext cx="47045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77824" y="2606040"/>
            <a:ext cx="4704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guloso — referência para medir o lift.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7356" y="1965960"/>
            <a:ext cx="5344668" cy="1325880"/>
          </a:xfrm>
          <a:prstGeom prst="roundRect">
            <a:avLst>
              <a:gd name="adj" fmla="val 6207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277356" y="2075688"/>
            <a:ext cx="64008" cy="1106424"/>
          </a:xfrm>
          <a:prstGeom prst="rect">
            <a:avLst/>
          </a:prstGeom>
          <a:solidFill>
            <a:srgbClr val="1a9e1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88252" y="2167128"/>
            <a:ext cx="47045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Thompson Sampling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588252" y="2606040"/>
            <a:ext cx="4704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Beta-Bernoulli. Exploração probabilística por amostragem.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584448"/>
            <a:ext cx="5344668" cy="1325880"/>
          </a:xfrm>
          <a:prstGeom prst="roundRect">
            <a:avLst>
              <a:gd name="adj" fmla="val 6207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66928" y="3694176"/>
            <a:ext cx="64008" cy="1106424"/>
          </a:xfrm>
          <a:prstGeom prst="rect">
            <a:avLst/>
          </a:prstGeom>
          <a:solidFill>
            <a:srgbClr val="3291FF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77824" y="3785616"/>
            <a:ext cx="47045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Nilos-UCB (UCB-V)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877824" y="4224528"/>
            <a:ext cx="4704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Otimismo consciente da variância do braço.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7356" y="3584448"/>
            <a:ext cx="5344668" cy="1325880"/>
          </a:xfrm>
          <a:prstGeom prst="roundRect">
            <a:avLst>
              <a:gd name="adj" fmla="val 6207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277356" y="3694176"/>
            <a:ext cx="64008" cy="1106424"/>
          </a:xfrm>
          <a:prstGeom prst="rect">
            <a:avLst/>
          </a:prstGeom>
          <a:solidFill>
            <a:srgbClr val="0070F3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588252" y="3785616"/>
            <a:ext cx="47045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LinUCB (contextual)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6588252" y="4224528"/>
            <a:ext cx="4704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linear sobre o contexto — menor regret nos dados reais.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66928" y="544068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9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13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Bandit (PyTorch MLP, MC-dropout) como 5ª política opcional · </a:t>
            </a:r>
            <a:pPr indent="0" marL="0"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e recompensas atrasadas tratados explicitamente.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74 · FIAP PÓS-TECH 7MLET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 BRAÇOS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ofertas, margens diferentes — por isso a margem importa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Empréstimo Pré-aprovado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767328" y="2020824"/>
            <a:ext cx="6766560" cy="274320"/>
          </a:xfrm>
          <a:prstGeom prst="roundRect">
            <a:avLst>
              <a:gd name="adj" fmla="val 50000"/>
            </a:avLst>
          </a:prstGeom>
          <a:solidFill>
            <a:srgbClr val="16161A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767328" y="2020824"/>
            <a:ext cx="676656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643616" y="19659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9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R$ 300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67328" y="22768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 · restrita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256946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Depósito a Prazo Premium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767328" y="2624328"/>
            <a:ext cx="6766560" cy="274320"/>
          </a:xfrm>
          <a:prstGeom prst="roundRect">
            <a:avLst>
              <a:gd name="adj" fmla="val 50000"/>
            </a:avLst>
          </a:prstGeom>
          <a:solidFill>
            <a:srgbClr val="16161A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767328" y="2624328"/>
            <a:ext cx="4511040" cy="274320"/>
          </a:xfrm>
          <a:prstGeom prst="roundRect">
            <a:avLst>
              <a:gd name="adj" fmla="val 50000"/>
            </a:avLst>
          </a:prstGeom>
          <a:solidFill>
            <a:srgbClr val="0070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643616" y="256946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R$ 200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67328" y="28803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deposit · padrão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" y="317296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Fundo de Investimento Intro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767328" y="3227832"/>
            <a:ext cx="6766560" cy="274320"/>
          </a:xfrm>
          <a:prstGeom prst="roundRect">
            <a:avLst>
              <a:gd name="adj" fmla="val 50000"/>
            </a:avLst>
          </a:prstGeom>
          <a:solidFill>
            <a:srgbClr val="16161A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767328" y="3227832"/>
            <a:ext cx="4059936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643616" y="31729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R$ 180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67328" y="34838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 · restrita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6928" y="377647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Cartão Cashback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767328" y="3831336"/>
            <a:ext cx="6766560" cy="274320"/>
          </a:xfrm>
          <a:prstGeom prst="roundRect">
            <a:avLst>
              <a:gd name="adj" fmla="val 50000"/>
            </a:avLst>
          </a:prstGeom>
          <a:solidFill>
            <a:srgbClr val="16161A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3767328" y="3831336"/>
            <a:ext cx="2706624" cy="274320"/>
          </a:xfrm>
          <a:prstGeom prst="roundRect">
            <a:avLst>
              <a:gd name="adj" fmla="val 50000"/>
            </a:avLst>
          </a:prstGeom>
          <a:solidFill>
            <a:srgbClr val="0070F3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643616" y="37764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R$ 120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67328" y="40873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 · padrão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6928" y="43799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Seguro Bundle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3767328" y="4434840"/>
            <a:ext cx="6766560" cy="274320"/>
          </a:xfrm>
          <a:prstGeom prst="roundRect">
            <a:avLst>
              <a:gd name="adj" fmla="val 50000"/>
            </a:avLst>
          </a:prstGeom>
          <a:solidFill>
            <a:srgbClr val="16161A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767328" y="4434840"/>
            <a:ext cx="2029968" cy="274320"/>
          </a:xfrm>
          <a:prstGeom prst="roundRect">
            <a:avLst>
              <a:gd name="adj" fmla="val 50000"/>
            </a:avLst>
          </a:prstGeom>
          <a:solidFill>
            <a:srgbClr val="0070F3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643616" y="437997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R$ 90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67328" y="46908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insurance · padrão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6928" y="49834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 Oferta (controle)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3767328" y="5038344"/>
            <a:ext cx="6766560" cy="274320"/>
          </a:xfrm>
          <a:prstGeom prst="roundRect">
            <a:avLst>
              <a:gd name="adj" fmla="val 50000"/>
            </a:avLst>
          </a:prstGeom>
          <a:solidFill>
            <a:srgbClr val="16161A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3767328" y="5038344"/>
            <a:ext cx="109728" cy="274320"/>
          </a:xfrm>
          <a:prstGeom prst="roundRect">
            <a:avLst>
              <a:gd name="adj" fmla="val 125000"/>
            </a:avLst>
          </a:prstGeom>
          <a:solidFill>
            <a:srgbClr val="0070F3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0643616" y="49834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767328" y="52943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6928" y="5989320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04672" y="59070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restrita (gate de elegibilidade/suitability)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13248" y="5989320"/>
            <a:ext cx="146304" cy="146304"/>
          </a:xfrm>
          <a:prstGeom prst="ellipse">
            <a:avLst/>
          </a:prstGeom>
          <a:solidFill>
            <a:srgbClr val="0070F3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650992" y="59070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74 · FIAP PÓS-TECH 7MLET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DECISÃO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 → elegibilidade → política → log auditável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1991563" cy="1783080"/>
          </a:xfrm>
          <a:prstGeom prst="roundRect">
            <a:avLst>
              <a:gd name="adj" fmla="val 4615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24966" y="2194560"/>
            <a:ext cx="475488" cy="475488"/>
          </a:xfrm>
          <a:prstGeom prst="ellipse">
            <a:avLst/>
          </a:prstGeom>
          <a:solidFill>
            <a:srgbClr val="0070F3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324966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" y="2788920"/>
            <a:ext cx="1772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4944" y="3154680"/>
            <a:ext cx="17355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idade, canal, juros, histórico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40203" y="246888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0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832811" y="1965960"/>
            <a:ext cx="1991563" cy="1783080"/>
          </a:xfrm>
          <a:prstGeom prst="roundRect">
            <a:avLst>
              <a:gd name="adj" fmla="val 4615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590849" y="2194560"/>
            <a:ext cx="475488" cy="475488"/>
          </a:xfrm>
          <a:prstGeom prst="ellipse">
            <a:avLst/>
          </a:prstGeom>
          <a:solidFill>
            <a:srgbClr val="0070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590849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42539" y="2788920"/>
            <a:ext cx="1772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Elegibilidade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60827" y="3154680"/>
            <a:ext cx="17355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de suitability / risco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6086" y="246888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0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098694" y="1965960"/>
            <a:ext cx="1991563" cy="1783080"/>
          </a:xfrm>
          <a:prstGeom prst="roundRect">
            <a:avLst>
              <a:gd name="adj" fmla="val 4615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856732" y="2194560"/>
            <a:ext cx="475488" cy="475488"/>
          </a:xfrm>
          <a:prstGeom prst="ellipse">
            <a:avLst/>
          </a:prstGeom>
          <a:solidFill>
            <a:srgbClr val="0070F3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856732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08422" y="2788920"/>
            <a:ext cx="1772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Política ativa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26710" y="3154680"/>
            <a:ext cx="17355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o braço de maior valor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71970" y="246888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0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364578" y="1965960"/>
            <a:ext cx="1991563" cy="1783080"/>
          </a:xfrm>
          <a:prstGeom prst="roundRect">
            <a:avLst>
              <a:gd name="adj" fmla="val 4615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122615" y="2194560"/>
            <a:ext cx="475488" cy="475488"/>
          </a:xfrm>
          <a:prstGeom prst="ellipse">
            <a:avLst/>
          </a:prstGeom>
          <a:solidFill>
            <a:srgbClr val="0070F3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122615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74306" y="2788920"/>
            <a:ext cx="1772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Reason codes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92594" y="3154680"/>
            <a:ext cx="17355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versão da política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37853" y="246888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0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630461" y="1965960"/>
            <a:ext cx="1991563" cy="1783080"/>
          </a:xfrm>
          <a:prstGeom prst="roundRect">
            <a:avLst>
              <a:gd name="adj" fmla="val 4615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388498" y="2194560"/>
            <a:ext cx="475488" cy="475488"/>
          </a:xfrm>
          <a:prstGeom prst="ellipse">
            <a:avLst/>
          </a:prstGeom>
          <a:solidFill>
            <a:srgbClr val="0070F3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0388498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740189" y="2788920"/>
            <a:ext cx="1772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 auditável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758477" y="3154680"/>
            <a:ext cx="17355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rastreável (LGPD)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" y="4160520"/>
            <a:ext cx="11055096" cy="1691640"/>
          </a:xfrm>
          <a:prstGeom prst="roundRect">
            <a:avLst>
              <a:gd name="adj" fmla="val 5405"/>
            </a:avLst>
          </a:prstGeom>
          <a:solidFill>
            <a:srgbClr val="16161A"/>
          </a:solidFill>
          <a:ln w="16510">
            <a:solidFill>
              <a:srgbClr val="1a9e1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978408" y="43708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9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EXEMPLO REAL — MARGEM VENCE CONVERSÃO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78408" y="4709160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Cliente 60 anos, com empréstimo ativo  →  escolhido: </a:t>
            </a:r>
            <a:pPr indent="0" marL="0">
              <a:buNone/>
            </a:pPr>
            <a:r>
              <a:rPr lang="en-US" sz="1900" b="1" dirty="0">
                <a:solidFill>
                  <a:srgbClr val="1A9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Fundo de Investimento (R$ 15,4)</a:t>
            </a:r>
            <a:pPr indent="0" marL="0">
              <a:buNone/>
            </a:pPr>
            <a:r>
              <a:rPr lang="en-US" sz="19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978408" y="5212080"/>
            <a:ext cx="10232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Seguro tinha MAIOR conversão (10,9%), mas a margem baixa (R$90) perdeu para o Fundo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(8,6% × R$180). A oferta de Empréstimo foi filtrada pela elegibilidade.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74 · FIAP PÓS-TECH 7MLET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EVIDÊNCIAS · BASE REAL (KAGGLE/UCI)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 base real, o aprendizado supera a regra fixa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558034" cy="1280160"/>
          </a:xfrm>
          <a:prstGeom prst="roundRect">
            <a:avLst>
              <a:gd name="adj" fmla="val 6429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1892808"/>
            <a:ext cx="23751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9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+9,2%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58368" y="2551176"/>
            <a:ext cx="23751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valor vs. baseline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99282" y="1783080"/>
            <a:ext cx="2558034" cy="1280160"/>
          </a:xfrm>
          <a:prstGeom prst="roundRect">
            <a:avLst>
              <a:gd name="adj" fmla="val 6429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90722" y="1892808"/>
            <a:ext cx="23751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29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8,3%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90722" y="2551176"/>
            <a:ext cx="23751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regret (LinUCB)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1636" y="1783080"/>
            <a:ext cx="2558034" cy="1280160"/>
          </a:xfrm>
          <a:prstGeom prst="roundRect">
            <a:avLst>
              <a:gd name="adj" fmla="val 6429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23076" y="1892808"/>
            <a:ext cx="23751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29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9,1%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23076" y="2551176"/>
            <a:ext cx="23751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conversão (LinUCB)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63990" y="1783080"/>
            <a:ext cx="2558034" cy="1280160"/>
          </a:xfrm>
          <a:prstGeom prst="roundRect">
            <a:avLst>
              <a:gd name="adj" fmla="val 6429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55430" y="1892808"/>
            <a:ext cx="23751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41.188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155430" y="2551176"/>
            <a:ext cx="23751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contatos reais (UCI)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331012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 ACUMULADO POR POLÍTICA (R$ · 6.000 rodadas)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3703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Thompson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057400" y="3739896"/>
            <a:ext cx="5074920" cy="292608"/>
          </a:xfrm>
          <a:prstGeom prst="roundRect">
            <a:avLst>
              <a:gd name="adj" fmla="val 12500"/>
            </a:avLst>
          </a:prstGeom>
          <a:solidFill>
            <a:srgbClr val="16161A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057400" y="3739896"/>
            <a:ext cx="5074920" cy="292608"/>
          </a:xfrm>
          <a:prstGeom prst="roundRect">
            <a:avLst>
              <a:gd name="adj" fmla="val 12500"/>
            </a:avLst>
          </a:prstGeom>
          <a:solidFill>
            <a:srgbClr val="1a9e1a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242048" y="37033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9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R$ 114.290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42336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LinUCB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057400" y="4270248"/>
            <a:ext cx="5074920" cy="292608"/>
          </a:xfrm>
          <a:prstGeom prst="roundRect">
            <a:avLst>
              <a:gd name="adj" fmla="val 12500"/>
            </a:avLst>
          </a:prstGeom>
          <a:solidFill>
            <a:srgbClr val="16161A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057400" y="4270248"/>
            <a:ext cx="5027852" cy="292608"/>
          </a:xfrm>
          <a:prstGeom prst="roundRect">
            <a:avLst>
              <a:gd name="adj" fmla="val 12500"/>
            </a:avLst>
          </a:prstGeom>
          <a:solidFill>
            <a:srgbClr val="3291FF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194980" y="42336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R$ 113.230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47640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057400" y="4800600"/>
            <a:ext cx="5074920" cy="292608"/>
          </a:xfrm>
          <a:prstGeom prst="roundRect">
            <a:avLst>
              <a:gd name="adj" fmla="val 12500"/>
            </a:avLst>
          </a:prstGeom>
          <a:solidFill>
            <a:srgbClr val="16161A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2057400" y="4800600"/>
            <a:ext cx="4649087" cy="292608"/>
          </a:xfrm>
          <a:prstGeom prst="roundRect">
            <a:avLst>
              <a:gd name="adj" fmla="val 12500"/>
            </a:avLst>
          </a:prstGeom>
          <a:solidFill>
            <a:srgbClr val="52525B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16215" y="476402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R$ 104.700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" y="52943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Nilos-UCB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057400" y="5330952"/>
            <a:ext cx="5074920" cy="292608"/>
          </a:xfrm>
          <a:prstGeom prst="roundRect">
            <a:avLst>
              <a:gd name="adj" fmla="val 12500"/>
            </a:avLst>
          </a:prstGeom>
          <a:solidFill>
            <a:srgbClr val="16161A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2057400" y="5330952"/>
            <a:ext cx="4530084" cy="292608"/>
          </a:xfrm>
          <a:prstGeom prst="roundRect">
            <a:avLst>
              <a:gd name="adj" fmla="val 12500"/>
            </a:avLst>
          </a:prstGeom>
          <a:solidFill>
            <a:srgbClr val="e84000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697212" y="529437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R$ 102.020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942832" y="3200400"/>
            <a:ext cx="2679192" cy="2743200"/>
          </a:xfrm>
          <a:prstGeom prst="roundRect">
            <a:avLst>
              <a:gd name="adj" fmla="val 3072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9217152" y="338328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LEITURA HONESTA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217152" y="3657600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real, mas modesto 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(~+8–9%) — realista, sem número mágico.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217152" y="4480560"/>
            <a:ext cx="2176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aposta 85% no Empréstimo; o LinUCB diversifica pelo contexto → </a:t>
            </a:r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A9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regret e maior conversão.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217152" y="5504688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todo bandit vence: 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Nilos-UCB ficou abaixo do baseline (−2,6%).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74 · FIAP PÓS-TECH 7MLET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0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DEMONSTRAÇÃO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Quatro superfícies demonstráveis — ao vivo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5298948" cy="1755648"/>
          </a:xfrm>
          <a:prstGeom prst="roundRect">
            <a:avLst>
              <a:gd name="adj" fmla="val 4688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6928" y="1874520"/>
            <a:ext cx="5298948" cy="82296"/>
          </a:xfrm>
          <a:prstGeom prst="rect">
            <a:avLst/>
          </a:prstGeom>
          <a:solidFill>
            <a:srgbClr val="0070F3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86968" y="2093976"/>
            <a:ext cx="33329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Console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037076" y="209397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· :3000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86968" y="2587752"/>
            <a:ext cx="46588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Explorador de decisão interativo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= P × margem por oferta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Explicação do assistente (LLM/RAG)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23076" y="1874520"/>
            <a:ext cx="5298948" cy="1755648"/>
          </a:xfrm>
          <a:prstGeom prst="roundRect">
            <a:avLst>
              <a:gd name="adj" fmla="val 4688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323076" y="1874520"/>
            <a:ext cx="5298948" cy="82296"/>
          </a:xfrm>
          <a:prstGeom prst="rect">
            <a:avLst/>
          </a:prstGeom>
          <a:solidFill>
            <a:srgbClr val="1a9e1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43116" y="2093976"/>
            <a:ext cx="33329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Swagger / OpenAPI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793224" y="209397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· /docs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43116" y="2587752"/>
            <a:ext cx="46588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interativo da API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POST /decide no navegador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Schemas, exemplos e reason codes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904488"/>
            <a:ext cx="5298948" cy="1755648"/>
          </a:xfrm>
          <a:prstGeom prst="roundRect">
            <a:avLst>
              <a:gd name="adj" fmla="val 4688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66928" y="3904488"/>
            <a:ext cx="5298948" cy="82296"/>
          </a:xfrm>
          <a:prstGeom prst="rect">
            <a:avLst/>
          </a:prstGeom>
          <a:solidFill>
            <a:srgbClr val="3291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86968" y="4123944"/>
            <a:ext cx="33329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 Board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037076" y="412394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· :8510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6968" y="4617720"/>
            <a:ext cx="46588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em tempo real + gauges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entre políticas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de decisões auditáveis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23076" y="3904488"/>
            <a:ext cx="5298948" cy="1755648"/>
          </a:xfrm>
          <a:prstGeom prst="roundRect">
            <a:avLst>
              <a:gd name="adj" fmla="val 4688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323076" y="3904488"/>
            <a:ext cx="5298948" cy="8229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643116" y="4123944"/>
            <a:ext cx="33329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MLflow Tracking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793224" y="412394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mlflow ui · :5000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43116" y="4617720"/>
            <a:ext cx="46588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com params + métricas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de experimentos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de política (registry)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74 · FIAP PÓS-TECH 7MLET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LENDO O BOARD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cada gráfico te conta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3502152" cy="1417320"/>
          </a:xfrm>
          <a:prstGeom prst="roundRect">
            <a:avLst>
              <a:gd name="adj" fmla="val 4516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pic>
        <p:nvPicPr>
          <p:cNvPr id="5" name="Image 0" descr="C:\Users\Dione\Desktop\datathon-7mlet-grupo-64\datathon-7mlet-grupo-64\.pptx-build/charts/c1_spark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865376"/>
            <a:ext cx="3282696" cy="11978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" y="32186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Reward acumulado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03504" y="34930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 do valor capturado — subir é bom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43400" y="1755648"/>
            <a:ext cx="3502152" cy="1417320"/>
          </a:xfrm>
          <a:prstGeom prst="roundRect">
            <a:avLst>
              <a:gd name="adj" fmla="val 4516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pic>
        <p:nvPicPr>
          <p:cNvPr id="9" name="Image 1" descr="C:\Users\Dione\Desktop\datathon-7mlet-grupo-64\datathon-7mlet-grupo-64\.pptx-build/charts/c2_gau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53128" y="1865376"/>
            <a:ext cx="3282696" cy="11978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79976" y="32186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Regret ratio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379976" y="34930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do ótimo vs. alvo — menor é melhor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119872" y="1755648"/>
            <a:ext cx="3502152" cy="1417320"/>
          </a:xfrm>
          <a:prstGeom prst="roundRect">
            <a:avLst>
              <a:gd name="adj" fmla="val 4516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pic>
        <p:nvPicPr>
          <p:cNvPr id="13" name="Image 2" descr="C:\Users\Dione\Desktop\datathon-7mlet-grupo-64\datathon-7mlet-grupo-64\.pptx-build/charts/c3_bar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29600" y="1865376"/>
            <a:ext cx="3282696" cy="11978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56448" y="32186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Valor por política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156448" y="34930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quanto cada algoritmo rende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66928" y="4087368"/>
            <a:ext cx="3502152" cy="1417320"/>
          </a:xfrm>
          <a:prstGeom prst="roundRect">
            <a:avLst>
              <a:gd name="adj" fmla="val 4516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pic>
        <p:nvPicPr>
          <p:cNvPr id="17" name="Image 3" descr="C:\Users\Dione\Desktop\datathon-7mlet-grupo-64\datathon-7mlet-grupo-64\.pptx-build/charts/c4_regre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6656" y="4197096"/>
            <a:ext cx="3282696" cy="11978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3504" y="55504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Regret acumulado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03504" y="58247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que achata = a política aprendeu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343400" y="4087368"/>
            <a:ext cx="3502152" cy="1417320"/>
          </a:xfrm>
          <a:prstGeom prst="roundRect">
            <a:avLst>
              <a:gd name="adj" fmla="val 4516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pic>
        <p:nvPicPr>
          <p:cNvPr id="21" name="Image 4" descr="C:\Users\Dione\Desktop\datathon-7mlet-grupo-64\datathon-7mlet-grupo-64\.pptx-build/charts/c5_donut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453128" y="4197096"/>
            <a:ext cx="3282696" cy="119786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79976" y="55504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Mix de ofertas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379976" y="58247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das escolhas — detecta degeneração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8119872" y="4087368"/>
            <a:ext cx="3502152" cy="1417320"/>
          </a:xfrm>
          <a:prstGeom prst="roundRect">
            <a:avLst>
              <a:gd name="adj" fmla="val 4516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pic>
        <p:nvPicPr>
          <p:cNvPr id="25" name="Image 5" descr="C:\Users\Dione\Desktop\datathon-7mlet-grupo-64\datathon-7mlet-grupo-64\.pptx-build/charts/c6_age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229600" y="4197096"/>
            <a:ext cx="3282696" cy="119786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156448" y="55504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Conversão por idade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8156448" y="58247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da base: qual perfil converte mais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29" name="Text 21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74 · FIAP PÓS-TECH 7MLET</a:t>
            </a:r>
            <a:endParaRPr lang="en-US" sz="850" dirty="0"/>
          </a:p>
        </p:txBody>
      </p:sp>
      <p:sp>
        <p:nvSpPr>
          <p:cNvPr id="30" name="Text 22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ARQUITETURA (ALVO AZURE)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Camadas claras, segurança gerenciada, escala a zero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3471672" cy="1234440"/>
          </a:xfrm>
          <a:prstGeom prst="roundRect">
            <a:avLst>
              <a:gd name="adj" fmla="val 6667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2103120"/>
            <a:ext cx="292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" y="2377440"/>
            <a:ext cx="292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Container Apps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41248" y="2761488"/>
            <a:ext cx="292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jobs, escala a zero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58640" y="1920240"/>
            <a:ext cx="3471672" cy="1234440"/>
          </a:xfrm>
          <a:prstGeom prst="roundRect">
            <a:avLst>
              <a:gd name="adj" fmla="val 6667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32960" y="2103120"/>
            <a:ext cx="292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32960" y="2377440"/>
            <a:ext cx="292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ADLS · Redis · PostgreSQL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32960" y="2761488"/>
            <a:ext cx="292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 off/online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0352" y="1920240"/>
            <a:ext cx="3471672" cy="1234440"/>
          </a:xfrm>
          <a:prstGeom prst="roundRect">
            <a:avLst>
              <a:gd name="adj" fmla="val 6667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424672" y="2103120"/>
            <a:ext cx="292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 / LLM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24672" y="2377440"/>
            <a:ext cx="292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OpenAI · AI Search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424672" y="2761488"/>
            <a:ext cx="292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do assistente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429000"/>
            <a:ext cx="3471672" cy="1234440"/>
          </a:xfrm>
          <a:prstGeom prst="roundRect">
            <a:avLst>
              <a:gd name="adj" fmla="val 6667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41248" y="3611880"/>
            <a:ext cx="292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MLOPS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" y="3886200"/>
            <a:ext cx="292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ML · MLflow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41248" y="4270248"/>
            <a:ext cx="292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+ registry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58640" y="3429000"/>
            <a:ext cx="3471672" cy="1234440"/>
          </a:xfrm>
          <a:prstGeom prst="roundRect">
            <a:avLst>
              <a:gd name="adj" fmla="val 6667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632960" y="3611880"/>
            <a:ext cx="292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OBSERVABILIDADE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32960" y="3886200"/>
            <a:ext cx="292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Insights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632960" y="4270248"/>
            <a:ext cx="292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métricas, logs, traços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50352" y="3429000"/>
            <a:ext cx="3471672" cy="1234440"/>
          </a:xfrm>
          <a:prstGeom prst="roundRect">
            <a:avLst>
              <a:gd name="adj" fmla="val 6667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424672" y="3611880"/>
            <a:ext cx="292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SEGURANÇA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24672" y="3886200"/>
            <a:ext cx="292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Vault · Managed ID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424672" y="4270248"/>
            <a:ext cx="292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segredos em env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5074920"/>
            <a:ext cx="11055096" cy="822960"/>
          </a:xfrm>
          <a:prstGeom prst="roundRect">
            <a:avLst>
              <a:gd name="adj" fmla="val 11111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32688" y="5074920"/>
            <a:ext cx="10323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 descartadas:  </a:t>
            </a:r>
            <a:pPr indent="0" marL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(overhead operacional) · segredos em env (risco) · LLM externo (viola “Azure-only”).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74 · FIAP PÓS-TECH 7MLET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CICLO DE VIDA MLOPS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 feature store ao monitoramento de drift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2558034" cy="2286000"/>
          </a:xfrm>
          <a:prstGeom prst="roundRect">
            <a:avLst>
              <a:gd name="adj" fmla="val 3600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41248" y="2212848"/>
            <a:ext cx="457200" cy="457200"/>
          </a:xfrm>
          <a:prstGeom prst="ellipse">
            <a:avLst/>
          </a:prstGeom>
          <a:solidFill>
            <a:srgbClr val="0070F3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41248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2788920"/>
            <a:ext cx="2009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Store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41248" y="3246120"/>
            <a:ext cx="20093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(Parquet) + online (SQLite). Paridade treino/serving.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088386" y="28346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0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99282" y="1965960"/>
            <a:ext cx="2558034" cy="2286000"/>
          </a:xfrm>
          <a:prstGeom prst="roundRect">
            <a:avLst>
              <a:gd name="adj" fmla="val 3600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673602" y="2212848"/>
            <a:ext cx="457200" cy="457200"/>
          </a:xfrm>
          <a:prstGeom prst="ellipse">
            <a:avLst/>
          </a:prstGeom>
          <a:solidFill>
            <a:srgbClr val="0070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673602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73602" y="2788920"/>
            <a:ext cx="2009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Treino + Tracking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673602" y="3246120"/>
            <a:ext cx="20093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experimentos versionados no MLflow; registro de políticas.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20740" y="28346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0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31636" y="1965960"/>
            <a:ext cx="2558034" cy="2286000"/>
          </a:xfrm>
          <a:prstGeom prst="roundRect">
            <a:avLst>
              <a:gd name="adj" fmla="val 3600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505956" y="2212848"/>
            <a:ext cx="457200" cy="457200"/>
          </a:xfrm>
          <a:prstGeom prst="ellipse">
            <a:avLst/>
          </a:prstGeom>
          <a:solidFill>
            <a:srgbClr val="0070F3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505956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05956" y="2788920"/>
            <a:ext cx="2009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Serving (API)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505956" y="3246120"/>
            <a:ext cx="20093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OpenAPI/Swagger, reason codes e log auditável.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53094" y="28346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0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63990" y="1965960"/>
            <a:ext cx="2558034" cy="2286000"/>
          </a:xfrm>
          <a:prstGeom prst="roundRect">
            <a:avLst>
              <a:gd name="adj" fmla="val 3600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338310" y="2212848"/>
            <a:ext cx="457200" cy="457200"/>
          </a:xfrm>
          <a:prstGeom prst="ellipse">
            <a:avLst/>
          </a:prstGeom>
          <a:solidFill>
            <a:srgbClr val="0070F3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33831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38310" y="2788920"/>
            <a:ext cx="2009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 de drift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9338310" y="3246120"/>
            <a:ext cx="20093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+ KS, control-chart de reward, relatório EvidentlyAI.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4983480"/>
            <a:ext cx="2805379" cy="457200"/>
          </a:xfrm>
          <a:prstGeom prst="roundRect">
            <a:avLst>
              <a:gd name="adj" fmla="val 50000"/>
            </a:avLst>
          </a:prstGeom>
          <a:solidFill>
            <a:srgbClr val="0C0C0E"/>
          </a:solidFill>
          <a:ln w="12700">
            <a:solidFill>
              <a:srgbClr val="0070F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66928" y="4983480"/>
            <a:ext cx="28053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testes (unit + integração)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573475" y="4983480"/>
            <a:ext cx="1207008" cy="457200"/>
          </a:xfrm>
          <a:prstGeom prst="roundRect">
            <a:avLst>
              <a:gd name="adj" fmla="val 50000"/>
            </a:avLst>
          </a:prstGeom>
          <a:solidFill>
            <a:srgbClr val="0C0C0E"/>
          </a:solidFill>
          <a:ln w="12700">
            <a:solidFill>
              <a:srgbClr val="0070F3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573475" y="498348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limpo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981651" y="4983480"/>
            <a:ext cx="1711757" cy="457200"/>
          </a:xfrm>
          <a:prstGeom prst="roundRect">
            <a:avLst>
              <a:gd name="adj" fmla="val 50000"/>
            </a:avLst>
          </a:prstGeom>
          <a:solidFill>
            <a:srgbClr val="0C0C0E"/>
          </a:solidFill>
          <a:ln w="12700">
            <a:solidFill>
              <a:srgbClr val="0070F3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981651" y="4983480"/>
            <a:ext cx="17117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Compose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894576" y="4983480"/>
            <a:ext cx="2300630" cy="457200"/>
          </a:xfrm>
          <a:prstGeom prst="roundRect">
            <a:avLst>
              <a:gd name="adj" fmla="val 50000"/>
            </a:avLst>
          </a:prstGeom>
          <a:solidFill>
            <a:srgbClr val="0C0C0E"/>
          </a:solidFill>
          <a:ln w="12700">
            <a:solidFill>
              <a:srgbClr val="0070F3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894576" y="4983480"/>
            <a:ext cx="2300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com approval gate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396374" y="4983480"/>
            <a:ext cx="2132381" cy="457200"/>
          </a:xfrm>
          <a:prstGeom prst="roundRect">
            <a:avLst>
              <a:gd name="adj" fmla="val 50000"/>
            </a:avLst>
          </a:prstGeom>
          <a:solidFill>
            <a:srgbClr val="0C0C0E"/>
          </a:solidFill>
          <a:ln w="12700">
            <a:solidFill>
              <a:srgbClr val="0070F3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396374" y="4983480"/>
            <a:ext cx="21323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em 1 comando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74 · FIAP PÓS-TECH 7MLET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GOVERNANÇA · RISCOS · FINOPS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Responsável por design — e com olho no custo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5298948" cy="3703320"/>
          </a:xfrm>
          <a:prstGeom prst="roundRect">
            <a:avLst>
              <a:gd name="adj" fmla="val 2222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2688" y="2194560"/>
            <a:ext cx="45674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GOVERNANÇA &amp; RISCOS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32688" y="2606040"/>
            <a:ext cx="45674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2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 + System Card documentados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2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LGPD — sem dado pessoal real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2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 no loop nas decisões sensíveis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2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de política em 1 comando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2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mapeados: reward hacking, manipulação de contexto, abuso do assistente — mitigados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23076" y="1965960"/>
            <a:ext cx="5298948" cy="3703320"/>
          </a:xfrm>
          <a:prstGeom prst="roundRect">
            <a:avLst>
              <a:gd name="adj" fmla="val 2222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688836" y="2194560"/>
            <a:ext cx="45674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A9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FINOPS (ROI · TCO · ESCALA)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88836" y="2606040"/>
            <a:ext cx="45674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2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o ganho de valor (+60%) dilui o custo de compute/LLM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2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só para explicação — não está no caminho crítico da decisão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2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dominado por Container Apps + Azure OpenAI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2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↑: réplicas + tier Redis no pico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2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↓: escala a zero + cache de RAG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74 · FIAP PÓS-TECH 7MLET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APÊNDICE TÉCNICO · TREINO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treinamos na base real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4526280" cy="2240280"/>
          </a:xfrm>
          <a:prstGeom prst="roundRect">
            <a:avLst>
              <a:gd name="adj" fmla="val 3673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95528" y="193852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MATEMÁTICA</a:t>
            </a:r>
            <a:endParaRPr lang="en-US" sz="1000" dirty="0"/>
          </a:p>
        </p:txBody>
      </p:sp>
      <p:pic>
        <p:nvPicPr>
          <p:cNvPr id="6" name="Image 0" descr="C:\Users\Dione\Desktop\datathon-7mlet-grupo-64\datathon-7mlet-grupo-64\.pptx-build/tech/eq_rew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2249424"/>
            <a:ext cx="4160520" cy="1627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" y="420624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REFERÊNCIA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85216" y="444398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Off-policy replay sobre os eventos reais do Bank Marketing.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85216" y="50749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= margem × conversão · regret = soma das diferenças vs. oráculo · a recompensa pode chegar atrasada (delayed reward).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349240" y="1783080"/>
            <a:ext cx="6272784" cy="4114800"/>
          </a:xfrm>
          <a:prstGeom prst="roundRect">
            <a:avLst>
              <a:gd name="adj" fmla="val 2000"/>
            </a:avLst>
          </a:prstGeom>
          <a:solidFill>
            <a:srgbClr val="272822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pic>
        <p:nvPicPr>
          <p:cNvPr id="11" name="Image 1" descr="C:\Users\Dione\Desktop\datathon-7mlet-grupo-64\datathon-7mlet-grupo-64\.pptx-build/tech/code_trai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32120" y="1938528"/>
            <a:ext cx="5907024" cy="35661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0408" y="5541264"/>
            <a:ext cx="5870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src/adaptive_offers/simulation/environment.py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74 · FIAP PÓS-TECH 7MLET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APÊNDICE TÉCNICO · CONTROLE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 — guloso (controle)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4526280" cy="2240280"/>
          </a:xfrm>
          <a:prstGeom prst="roundRect">
            <a:avLst>
              <a:gd name="adj" fmla="val 3673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95528" y="193852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MATEMÁTICA</a:t>
            </a:r>
            <a:endParaRPr lang="en-US" sz="1000" dirty="0"/>
          </a:p>
        </p:txBody>
      </p:sp>
      <p:pic>
        <p:nvPicPr>
          <p:cNvPr id="6" name="Image 0" descr="C:\Users\Dione\Desktop\datathon-7mlet-grupo-64\datathon-7mlet-grupo-64\.pptx-build/tech/eq_bas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2249424"/>
            <a:ext cx="4160520" cy="1627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" y="420624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REFERÊNCIA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85216" y="444398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com início otimista · sem exploração ativa.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85216" y="50749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controle exigido pelo edital — a referência que as políticas adaptativas precisam superar.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349240" y="1783080"/>
            <a:ext cx="6272784" cy="4114800"/>
          </a:xfrm>
          <a:prstGeom prst="roundRect">
            <a:avLst>
              <a:gd name="adj" fmla="val 2000"/>
            </a:avLst>
          </a:prstGeom>
          <a:solidFill>
            <a:srgbClr val="272822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pic>
        <p:nvPicPr>
          <p:cNvPr id="11" name="Image 1" descr="C:\Users\Dione\Desktop\datathon-7mlet-grupo-64\datathon-7mlet-grupo-64\.pptx-build/tech/code_baselin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32120" y="1938528"/>
            <a:ext cx="5907024" cy="35661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0408" y="5541264"/>
            <a:ext cx="5870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src/adaptive_offers/bandits/baseline.py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74 · FIAP PÓS-TECH 7MLET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APÊNDICE TÉCNICO · BAYESIANO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Thompson Sampling (Beta-Bernoulli)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4526280" cy="2240280"/>
          </a:xfrm>
          <a:prstGeom prst="roundRect">
            <a:avLst>
              <a:gd name="adj" fmla="val 3673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95528" y="193852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9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MATEMÁTICA</a:t>
            </a:r>
            <a:endParaRPr lang="en-US" sz="1000" dirty="0"/>
          </a:p>
        </p:txBody>
      </p:sp>
      <p:pic>
        <p:nvPicPr>
          <p:cNvPr id="6" name="Image 0" descr="C:\Users\Dione\Desktop\datathon-7mlet-grupo-64\datathon-7mlet-grupo-64\.pptx-build/tech/eq_thomp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2249424"/>
            <a:ext cx="4160520" cy="1627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" y="420624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REFERÊNCIA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85216" y="444398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Thompson (1933) · Agrawal &amp; Goyal (2012).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85216" y="50749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Amostrar do posterior É a exploração: braços com pouca evidência têm posterior largo e às vezes são sorteados alto.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349240" y="1783080"/>
            <a:ext cx="6272784" cy="4114800"/>
          </a:xfrm>
          <a:prstGeom prst="roundRect">
            <a:avLst>
              <a:gd name="adj" fmla="val 2000"/>
            </a:avLst>
          </a:prstGeom>
          <a:solidFill>
            <a:srgbClr val="272822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pic>
        <p:nvPicPr>
          <p:cNvPr id="11" name="Image 1" descr="C:\Users\Dione\Desktop\datathon-7mlet-grupo-64\datathon-7mlet-grupo-64\.pptx-build/tech/code_thomps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32120" y="1938528"/>
            <a:ext cx="5907024" cy="35661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0408" y="5541264"/>
            <a:ext cx="5870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9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src/adaptive_offers/bandits/thompson.py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74 · FIAP PÓS-TECH 7MLET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APÊNDICE TÉCNICO · UCB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Nilos-UCB — UCB-V (consciente de variância)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4526280" cy="2240280"/>
          </a:xfrm>
          <a:prstGeom prst="roundRect">
            <a:avLst>
              <a:gd name="adj" fmla="val 3673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95528" y="193852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MATEMÁTICA</a:t>
            </a:r>
            <a:endParaRPr lang="en-US" sz="1000" dirty="0"/>
          </a:p>
        </p:txBody>
      </p:sp>
      <p:pic>
        <p:nvPicPr>
          <p:cNvPr id="6" name="Image 0" descr="C:\Users\Dione\Desktop\datathon-7mlet-grupo-64\datathon-7mlet-grupo-64\.pptx-build/tech/eq_nilo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2249424"/>
            <a:ext cx="4160520" cy="1627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" y="420624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REFERÊNCIA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85216" y="444398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Audibert, Munos &amp; Szepesvári (2009) — UCB-V.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85216" y="50749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bônus usa a variância empírica do braço (Welford online); ofertas de alta incerteza são exploradas mais cedo.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349240" y="1783080"/>
            <a:ext cx="6272784" cy="4114800"/>
          </a:xfrm>
          <a:prstGeom prst="roundRect">
            <a:avLst>
              <a:gd name="adj" fmla="val 2000"/>
            </a:avLst>
          </a:prstGeom>
          <a:solidFill>
            <a:srgbClr val="272822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pic>
        <p:nvPicPr>
          <p:cNvPr id="11" name="Image 1" descr="C:\Users\Dione\Desktop\datathon-7mlet-grupo-64\datathon-7mlet-grupo-64\.pptx-build/tech/code_nilo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32120" y="1938528"/>
            <a:ext cx="5907024" cy="35661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0408" y="5541264"/>
            <a:ext cx="5870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src/adaptive_offers/bandits/ucb.py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74 · FIAP PÓS-TECH 7MLET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APÊNDICE TÉCNICO · CONTEXTUAL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LinUCB — bandit contextual (menor regret)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4526280" cy="2240280"/>
          </a:xfrm>
          <a:prstGeom prst="roundRect">
            <a:avLst>
              <a:gd name="adj" fmla="val 3673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95528" y="193852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9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MATEMÁTICA</a:t>
            </a:r>
            <a:endParaRPr lang="en-US" sz="1000" dirty="0"/>
          </a:p>
        </p:txBody>
      </p:sp>
      <p:pic>
        <p:nvPicPr>
          <p:cNvPr id="6" name="Image 0" descr="C:\Users\Dione\Desktop\datathon-7mlet-grupo-64\datathon-7mlet-grupo-64\.pptx-build/tech/eq_linuc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2249424"/>
            <a:ext cx="4160520" cy="1627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" y="420624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REFERÊNCIA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85216" y="444398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Li, Chu, Langford &amp; Schapire (2010).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85216" y="50749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por braço sobre o contexto + bônus de incerteza → roteia a oferta certa para o perfil certo. Na base real teve o menor regret (8,3%) e a maior conversão (9,1%); ganho de valor modesto (~+8%).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349240" y="1783080"/>
            <a:ext cx="6272784" cy="4114800"/>
          </a:xfrm>
          <a:prstGeom prst="roundRect">
            <a:avLst>
              <a:gd name="adj" fmla="val 2000"/>
            </a:avLst>
          </a:prstGeom>
          <a:solidFill>
            <a:srgbClr val="272822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pic>
        <p:nvPicPr>
          <p:cNvPr id="11" name="Image 1" descr="C:\Users\Dione\Desktop\datathon-7mlet-grupo-64\datathon-7mlet-grupo-64\.pptx-build/tech/code_linucb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32120" y="1938528"/>
            <a:ext cx="5907024" cy="35661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0408" y="5541264"/>
            <a:ext cx="5870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9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src/adaptive_offers/bandits/linucb.py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74 · FIAP PÓS-TECH 7MLET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D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2000" cy="676656"/>
          </a:xfrm>
          <a:prstGeom prst="rect">
            <a:avLst/>
          </a:prstGeom>
          <a:solidFill>
            <a:srgbClr val="01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904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 i="0">
                <a:solidFill>
                  <a:srgbClr val="EDEDED"/>
                </a:solidFill>
                <a:latin typeface="Calibri"/>
              </a:defRPr>
            </a:pPr>
            <a:r>
              <a:rPr b="1" sz="2000">
                <a:solidFill>
                  <a:srgbClr val="EDEDED"/>
                </a:solidFill>
              </a:rPr>
              <a:t>MLflow — Rastreamento de Experimentos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93776"/>
            <a:ext cx="113690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 i="0">
                <a:solidFill>
                  <a:srgbClr val="8899BB"/>
                </a:solidFill>
                <a:latin typeface="Calibri"/>
              </a:defRPr>
            </a:pPr>
            <a:r>
              <a:rPr sz="1100">
                <a:solidFill>
                  <a:srgbClr val="1A6FFF"/>
                </a:solidFill>
              </a:rPr>
              <a:t>Reprodutibilidade · Comparação de Políticas · Registro de Modelos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69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 i="0">
                <a:solidFill>
                  <a:srgbClr val="FFC200"/>
                </a:solidFill>
                <a:latin typeface="Calibri"/>
              </a:defRPr>
            </a:pPr>
            <a:r>
              <a:rPr b="1" sz="1100">
                <a:solidFill>
                  <a:srgbClr val="FFC200"/>
                </a:solidFill>
              </a:rPr>
              <a:t>OBSERVABILIDADE E GOVERNANÇA DE ML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78992"/>
            <a:ext cx="3667760" cy="2194560"/>
          </a:xfrm>
          <a:prstGeom prst="rect">
            <a:avLst/>
          </a:prstGeom>
          <a:solidFill>
            <a:srgbClr val="010A1A"/>
          </a:solidFill>
          <a:ln w="19050">
            <a:solidFill>
              <a:srgbClr val="1A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78992"/>
            <a:ext cx="3667760" cy="347472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1124712"/>
            <a:ext cx="344830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EDEDED"/>
                </a:solidFill>
              </a:rPr>
              <a:t>Experiment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1490472"/>
            <a:ext cx="3375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EDEDED"/>
                </a:solidFill>
                <a:latin typeface="Calibri"/>
              </a:defRPr>
            </a:pPr>
            <a:r>
              <a:rPr sz="1000">
                <a:solidFill>
                  <a:srgbClr val="EDEDED"/>
                </a:solidFill>
              </a:rPr>
              <a:t>  1 run = 1 politica simulada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" y="1911096"/>
            <a:ext cx="3375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EDEDED"/>
                </a:solidFill>
                <a:latin typeface="Calibri"/>
              </a:defRPr>
            </a:pPr>
            <a:r>
              <a:rPr sz="1000">
                <a:solidFill>
                  <a:srgbClr val="EDEDED"/>
                </a:solidFill>
              </a:rPr>
              <a:t>  params: horizon, alpha, beta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2331720"/>
            <a:ext cx="3375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EDEDED"/>
                </a:solidFill>
                <a:latin typeface="Calibri"/>
              </a:defRPr>
            </a:pPr>
            <a:r>
              <a:rPr sz="1000">
                <a:solidFill>
                  <a:srgbClr val="EDEDED"/>
                </a:solidFill>
              </a:rPr>
              <a:t>  metricas: reward, regret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2752344"/>
            <a:ext cx="3375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EDEDED"/>
                </a:solidFill>
                <a:latin typeface="Calibri"/>
              </a:defRPr>
            </a:pPr>
            <a:r>
              <a:rPr sz="1000">
                <a:solidFill>
                  <a:srgbClr val="EDEDED"/>
                </a:solidFill>
              </a:rPr>
              <a:t>  artefatos: modelo + features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2120" y="1078992"/>
            <a:ext cx="3667760" cy="2194560"/>
          </a:xfrm>
          <a:prstGeom prst="rect">
            <a:avLst/>
          </a:prstGeom>
          <a:solidFill>
            <a:srgbClr val="010A1A"/>
          </a:solidFill>
          <a:ln w="19050">
            <a:solidFill>
              <a:srgbClr val="1A9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62120" y="1078992"/>
            <a:ext cx="3667760" cy="347472"/>
          </a:xfrm>
          <a:prstGeom prst="rect">
            <a:avLst/>
          </a:prstGeom>
          <a:solidFill>
            <a:srgbClr val="1A9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1848" y="1124712"/>
            <a:ext cx="344830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EDEDED"/>
                </a:solidFill>
              </a:rPr>
              <a:t>Model Registry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8424" y="1490472"/>
            <a:ext cx="3375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EDEDED"/>
                </a:solidFill>
                <a:latin typeface="Calibri"/>
              </a:defRPr>
            </a:pPr>
            <a:r>
              <a:rPr sz="1000">
                <a:solidFill>
                  <a:srgbClr val="EDEDED"/>
                </a:solidFill>
              </a:rPr>
              <a:t>  LinUCB promovido a 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8424" y="1911096"/>
            <a:ext cx="3375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EDEDED"/>
                </a:solidFill>
                <a:latin typeface="Calibri"/>
              </a:defRPr>
            </a:pPr>
            <a:r>
              <a:rPr sz="1000">
                <a:solidFill>
                  <a:srgbClr val="EDEDED"/>
                </a:solidFill>
              </a:rPr>
              <a:t>  versoes anteriores em Staging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8424" y="2331720"/>
            <a:ext cx="3375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EDEDED"/>
                </a:solidFill>
                <a:latin typeface="Calibri"/>
              </a:defRPr>
            </a:pPr>
            <a:r>
              <a:rPr sz="1000">
                <a:solidFill>
                  <a:srgbClr val="EDEDED"/>
                </a:solidFill>
              </a:rPr>
              <a:t>  rollback disponivel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8424" y="2752344"/>
            <a:ext cx="3375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EDEDED"/>
                </a:solidFill>
                <a:latin typeface="Calibri"/>
              </a:defRPr>
            </a:pPr>
            <a:r>
              <a:rPr sz="1000">
                <a:solidFill>
                  <a:srgbClr val="EDEDED"/>
                </a:solidFill>
              </a:rPr>
              <a:t>  API usa versao 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12760" y="1078992"/>
            <a:ext cx="3667760" cy="2194560"/>
          </a:xfrm>
          <a:prstGeom prst="rect">
            <a:avLst/>
          </a:prstGeom>
          <a:solidFill>
            <a:srgbClr val="010A1A"/>
          </a:solidFill>
          <a:ln w="19050">
            <a:solidFill>
              <a:srgbClr val="FF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12760" y="1078992"/>
            <a:ext cx="3667760" cy="347472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2488" y="1124712"/>
            <a:ext cx="344830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 i="0">
                <a:solidFill>
                  <a:srgbClr val="000000"/>
                </a:solidFill>
                <a:latin typeface="Calibri"/>
              </a:defRPr>
            </a:pPr>
            <a:r>
              <a:rPr b="1">
                <a:solidFill>
                  <a:srgbClr val="EDEDED"/>
                </a:solidFill>
              </a:rPr>
              <a:t>Resultados-chave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9064" y="1490472"/>
            <a:ext cx="3375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EDEDED"/>
                </a:solidFill>
                <a:latin typeface="Calibri"/>
              </a:defRPr>
            </a:pPr>
            <a:r>
              <a:rPr sz="1000">
                <a:solidFill>
                  <a:srgbClr val="1A9E1A"/>
                </a:solidFill>
              </a:rPr>
              <a:t>  LinUCB: regret ratio 5,1%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9064" y="1911096"/>
            <a:ext cx="3375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EDEDED"/>
                </a:solidFill>
                <a:latin typeface="Calibri"/>
              </a:defRPr>
            </a:pPr>
            <a:r>
              <a:rPr sz="1000">
                <a:solidFill>
                  <a:srgbClr val="1A9E1A"/>
                </a:solidFill>
              </a:rPr>
              <a:t>  Lift +66,6% vs baseline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9064" y="2331720"/>
            <a:ext cx="3375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EDEDED"/>
                </a:solidFill>
                <a:latin typeface="Calibri"/>
              </a:defRPr>
            </a:pPr>
            <a:r>
              <a:rPr sz="1000">
                <a:solidFill>
                  <a:srgbClr val="1A9E1A"/>
                </a:solidFill>
              </a:rPr>
              <a:t>  Convergencia: round ~800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9064" y="2752344"/>
            <a:ext cx="3375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EDEDED"/>
                </a:solidFill>
                <a:latin typeface="Calibri"/>
              </a:defRPr>
            </a:pPr>
            <a:r>
              <a:rPr sz="1000">
                <a:solidFill>
                  <a:srgbClr val="1A9E1A"/>
                </a:solidFill>
              </a:rPr>
              <a:t>  6.000 rounds, dados reais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529584"/>
            <a:ext cx="2501188" cy="365760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593592"/>
            <a:ext cx="24097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EDEDED"/>
                </a:solidFill>
              </a:rPr>
              <a:t>Politica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12668" y="3529584"/>
            <a:ext cx="2273808" cy="365760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58388" y="3593592"/>
            <a:ext cx="2182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EDEDED"/>
                </a:solidFill>
              </a:rPr>
              <a:t>Reward Acum.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86476" y="3529584"/>
            <a:ext cx="1591665" cy="365760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32196" y="3593592"/>
            <a:ext cx="150022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Regret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78142" y="3529584"/>
            <a:ext cx="1591665" cy="365760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23862" y="3593592"/>
            <a:ext cx="150022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Conversao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69808" y="3529584"/>
            <a:ext cx="3410712" cy="365760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5528" y="3593592"/>
            <a:ext cx="33192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rPr sz="1000">
                <a:solidFill>
                  <a:srgbClr val="1A9E1A"/>
                </a:solidFill>
              </a:rPr>
              <a:t>Lift vs Baseline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3895344"/>
            <a:ext cx="2501188" cy="365760"/>
          </a:xfrm>
          <a:prstGeom prst="rect">
            <a:avLst/>
          </a:prstGeom>
          <a:solidFill>
            <a:srgbClr val="03183A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968496"/>
            <a:ext cx="24097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C200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LinUCB (campeao)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12668" y="3895344"/>
            <a:ext cx="2273808" cy="365760"/>
          </a:xfrm>
          <a:prstGeom prst="rect">
            <a:avLst/>
          </a:prstGeom>
          <a:solidFill>
            <a:srgbClr val="03183A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58388" y="3968496"/>
            <a:ext cx="2182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C200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R$ 424.820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86476" y="3895344"/>
            <a:ext cx="1591665" cy="365760"/>
          </a:xfrm>
          <a:prstGeom prst="rect">
            <a:avLst/>
          </a:prstGeom>
          <a:solidFill>
            <a:srgbClr val="03183A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32196" y="3968496"/>
            <a:ext cx="150022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C200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5,1%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78142" y="3895344"/>
            <a:ext cx="1591665" cy="365760"/>
          </a:xfrm>
          <a:prstGeom prst="rect">
            <a:avLst/>
          </a:prstGeom>
          <a:solidFill>
            <a:srgbClr val="03183A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23862" y="3968496"/>
            <a:ext cx="150022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C200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9,1%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69808" y="3895344"/>
            <a:ext cx="3410712" cy="365760"/>
          </a:xfrm>
          <a:prstGeom prst="rect">
            <a:avLst/>
          </a:prstGeom>
          <a:solidFill>
            <a:srgbClr val="03183A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5528" y="3968496"/>
            <a:ext cx="33192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C200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+66,6%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4261104"/>
            <a:ext cx="2501188" cy="365760"/>
          </a:xfrm>
          <a:prstGeom prst="rect">
            <a:avLst/>
          </a:prstGeom>
          <a:solidFill>
            <a:srgbClr val="031028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4334256"/>
            <a:ext cx="24097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8899BB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Thompson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12668" y="4261104"/>
            <a:ext cx="2273808" cy="365760"/>
          </a:xfrm>
          <a:prstGeom prst="rect">
            <a:avLst/>
          </a:prstGeom>
          <a:solidFill>
            <a:srgbClr val="031028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58388" y="4334256"/>
            <a:ext cx="2182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EDEDED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R$ 351.200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86476" y="4261104"/>
            <a:ext cx="1591665" cy="365760"/>
          </a:xfrm>
          <a:prstGeom prst="rect">
            <a:avLst/>
          </a:prstGeom>
          <a:solidFill>
            <a:srgbClr val="031028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32196" y="4334256"/>
            <a:ext cx="150022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EDEDED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17,4%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78142" y="4261104"/>
            <a:ext cx="1591665" cy="365760"/>
          </a:xfrm>
          <a:prstGeom prst="rect">
            <a:avLst/>
          </a:prstGeom>
          <a:solidFill>
            <a:srgbClr val="031028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23862" y="4334256"/>
            <a:ext cx="150022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EDEDED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7,8%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69808" y="4261104"/>
            <a:ext cx="3410712" cy="365760"/>
          </a:xfrm>
          <a:prstGeom prst="rect">
            <a:avLst/>
          </a:prstGeom>
          <a:solidFill>
            <a:srgbClr val="031028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15528" y="4334256"/>
            <a:ext cx="33192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EDEDED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+37,9%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4626864"/>
            <a:ext cx="2501188" cy="365760"/>
          </a:xfrm>
          <a:prstGeom prst="rect">
            <a:avLst/>
          </a:prstGeom>
          <a:solidFill>
            <a:srgbClr val="031028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4700016"/>
            <a:ext cx="24097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8899BB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Nilos-UCB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12668" y="4626864"/>
            <a:ext cx="2273808" cy="365760"/>
          </a:xfrm>
          <a:prstGeom prst="rect">
            <a:avLst/>
          </a:prstGeom>
          <a:solidFill>
            <a:srgbClr val="031028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58388" y="4700016"/>
            <a:ext cx="2182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EDEDED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R$ 330.100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86476" y="4626864"/>
            <a:ext cx="1591665" cy="365760"/>
          </a:xfrm>
          <a:prstGeom prst="rect">
            <a:avLst/>
          </a:prstGeom>
          <a:solidFill>
            <a:srgbClr val="031028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232196" y="4700016"/>
            <a:ext cx="150022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EDEDED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22,5%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78142" y="4626864"/>
            <a:ext cx="1591665" cy="365760"/>
          </a:xfrm>
          <a:prstGeom prst="rect">
            <a:avLst/>
          </a:prstGeom>
          <a:solidFill>
            <a:srgbClr val="031028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23862" y="4700016"/>
            <a:ext cx="150022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EDEDED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7,3%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69808" y="4626864"/>
            <a:ext cx="3410712" cy="365760"/>
          </a:xfrm>
          <a:prstGeom prst="rect">
            <a:avLst/>
          </a:prstGeom>
          <a:solidFill>
            <a:srgbClr val="031028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15528" y="4700016"/>
            <a:ext cx="33192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EDEDED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+29,9%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4992624"/>
            <a:ext cx="2501188" cy="365760"/>
          </a:xfrm>
          <a:prstGeom prst="rect">
            <a:avLst/>
          </a:prstGeom>
          <a:solidFill>
            <a:srgbClr val="020C1E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5065776"/>
            <a:ext cx="24097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8899BB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Baseline (greedy)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912668" y="4992624"/>
            <a:ext cx="2273808" cy="365760"/>
          </a:xfrm>
          <a:prstGeom prst="rect">
            <a:avLst/>
          </a:prstGeom>
          <a:solidFill>
            <a:srgbClr val="020C1E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958388" y="5065776"/>
            <a:ext cx="2182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EDEDED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R$ 254.990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186476" y="4992624"/>
            <a:ext cx="1591665" cy="365760"/>
          </a:xfrm>
          <a:prstGeom prst="rect">
            <a:avLst/>
          </a:prstGeom>
          <a:solidFill>
            <a:srgbClr val="020C1E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232196" y="5065776"/>
            <a:ext cx="150022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EDEDED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100%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778142" y="4992624"/>
            <a:ext cx="1591665" cy="365760"/>
          </a:xfrm>
          <a:prstGeom prst="rect">
            <a:avLst/>
          </a:prstGeom>
          <a:solidFill>
            <a:srgbClr val="020C1E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23862" y="5065776"/>
            <a:ext cx="150022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EDEDED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5,5%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369808" y="4992624"/>
            <a:ext cx="3410712" cy="365760"/>
          </a:xfrm>
          <a:prstGeom prst="rect">
            <a:avLst/>
          </a:prstGeom>
          <a:solidFill>
            <a:srgbClr val="020C1E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415528" y="5065776"/>
            <a:ext cx="33192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EDEDED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---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11480" y="6528816"/>
            <a:ext cx="11369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 i="0">
                <a:solidFill>
                  <a:srgbClr val="8899BB"/>
                </a:solidFill>
                <a:latin typeface="Calibri"/>
              </a:defRPr>
            </a:pPr>
            <a:r>
              <a:rPr sz="1000">
                <a:solidFill>
                  <a:srgbClr val="1A9E1A"/>
                </a:solidFill>
              </a:rPr>
              <a:t>LinUCB eleito campeao via MLflow Model Registry  |  Simulacao em 6.000 rounds  |  Bank Marketing Dataset  |  41.188 clientes reais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D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2000" cy="676656"/>
          </a:xfrm>
          <a:prstGeom prst="rect">
            <a:avLst/>
          </a:prstGeom>
          <a:solidFill>
            <a:srgbClr val="01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904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 i="0">
                <a:solidFill>
                  <a:srgbClr val="EDEDED"/>
                </a:solidFill>
                <a:latin typeface="Calibri"/>
              </a:defRPr>
            </a:pPr>
            <a:r>
              <a:rPr b="1" sz="2000">
                <a:solidFill>
                  <a:srgbClr val="EDEDED"/>
                </a:solidFill>
              </a:rPr>
              <a:t>API REST — Servico de Decisao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93776"/>
            <a:ext cx="113690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 i="0">
                <a:solidFill>
                  <a:srgbClr val="8899BB"/>
                </a:solidFill>
                <a:latin typeface="Calibri"/>
              </a:defRPr>
            </a:pPr>
            <a:r>
              <a:rPr sz="1100">
                <a:solidFill>
                  <a:srgbClr val="1A6FFF"/>
                </a:solidFill>
              </a:rPr>
              <a:t>FastAPI · 7 endpoints · auditavel · localhost:8000/docs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69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 i="0">
                <a:solidFill>
                  <a:srgbClr val="FFC200"/>
                </a:solidFill>
                <a:latin typeface="Calibri"/>
              </a:defRPr>
            </a:pPr>
            <a:r>
              <a:rPr b="1" sz="1100">
                <a:solidFill>
                  <a:srgbClr val="FFC200"/>
                </a:solidFill>
              </a:rPr>
              <a:t>CONTRATO DE DECISAO EM TEMPO REAL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33856"/>
            <a:ext cx="621792" cy="347472"/>
          </a:xfrm>
          <a:prstGeom prst="rect">
            <a:avLst/>
          </a:prstGeom>
          <a:solidFill>
            <a:srgbClr val="1A9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33856"/>
            <a:ext cx="6217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 i="0">
                <a:solidFill>
                  <a:srgbClr val="000000"/>
                </a:solidFill>
                <a:latin typeface="Calibri"/>
              </a:defRPr>
            </a:pPr>
            <a:r>
              <a:rPr b="1">
                <a:solidFill>
                  <a:srgbClr val="1A9E1A"/>
                </a:solidFill>
              </a:rP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152144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 i="0">
                <a:solidFill>
                  <a:srgbClr val="EDEDED"/>
                </a:solidFill>
                <a:latin typeface="Consolas"/>
              </a:defRPr>
            </a:pPr>
            <a:r>
              <a:rPr b="1">
                <a:solidFill>
                  <a:srgbClr val="FFC200"/>
                </a:solidFill>
              </a:rPr>
              <a:t>/health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2424" y="1170432"/>
            <a:ext cx="83698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8899BB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Liveness + readiness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536192"/>
            <a:ext cx="11369040" cy="6350"/>
          </a:xfrm>
          <a:prstGeom prst="rect">
            <a:avLst/>
          </a:prstGeom>
          <a:solidFill>
            <a:srgbClr val="0D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591056"/>
            <a:ext cx="621792" cy="347472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591056"/>
            <a:ext cx="6217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1A9E1A"/>
                </a:solidFill>
              </a:rPr>
              <a:t>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1609344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 i="0">
                <a:solidFill>
                  <a:srgbClr val="EDEDED"/>
                </a:solidFill>
                <a:latin typeface="Consolas"/>
              </a:defRPr>
            </a:pPr>
            <a:r>
              <a:rPr b="1">
                <a:solidFill>
                  <a:srgbClr val="FFC200"/>
                </a:solidFill>
              </a:rPr>
              <a:t>/policy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2424" y="1627632"/>
            <a:ext cx="83698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8899BB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Politica ativa - nome, versao, metricas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993392"/>
            <a:ext cx="11369040" cy="6350"/>
          </a:xfrm>
          <a:prstGeom prst="rect">
            <a:avLst/>
          </a:prstGeom>
          <a:solidFill>
            <a:srgbClr val="0D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048256"/>
            <a:ext cx="621792" cy="347472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048256"/>
            <a:ext cx="6217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1A9E1A"/>
                </a:solidFill>
              </a:rPr>
              <a:t>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066544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 i="0">
                <a:solidFill>
                  <a:srgbClr val="EDEDED"/>
                </a:solidFill>
                <a:latin typeface="Consolas"/>
              </a:defRPr>
            </a:pPr>
            <a:r>
              <a:rPr b="1">
                <a:solidFill>
                  <a:srgbClr val="FFC200"/>
                </a:solidFill>
              </a:rPr>
              <a:t>/offers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92424" y="2084832"/>
            <a:ext cx="83698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8899BB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Catalogo de 6 ofertas - margem, suitability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450592"/>
            <a:ext cx="11369040" cy="6350"/>
          </a:xfrm>
          <a:prstGeom prst="rect">
            <a:avLst/>
          </a:prstGeom>
          <a:solidFill>
            <a:srgbClr val="0D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2505456"/>
            <a:ext cx="621792" cy="347472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505456"/>
            <a:ext cx="6217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 i="0">
                <a:solidFill>
                  <a:srgbClr val="000000"/>
                </a:solidFill>
                <a:latin typeface="Calibri"/>
              </a:defRPr>
            </a:pPr>
            <a:r>
              <a:rPr b="1">
                <a:solidFill>
                  <a:srgbClr val="1A6FFF"/>
                </a:solidFill>
              </a:rPr>
              <a:t>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2523744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 i="0">
                <a:solidFill>
                  <a:srgbClr val="EDEDED"/>
                </a:solidFill>
                <a:latin typeface="Consolas"/>
              </a:defRPr>
            </a:pPr>
            <a:r>
              <a:rPr b="1">
                <a:solidFill>
                  <a:srgbClr val="FFC200"/>
                </a:solidFill>
              </a:rPr>
              <a:t>/decide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92424" y="2542032"/>
            <a:ext cx="83698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8899BB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Contexto -&gt; decisao auditavel + reason_codes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907792"/>
            <a:ext cx="11369040" cy="6350"/>
          </a:xfrm>
          <a:prstGeom prst="rect">
            <a:avLst/>
          </a:prstGeom>
          <a:solidFill>
            <a:srgbClr val="0D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2962656"/>
            <a:ext cx="621792" cy="347472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2962656"/>
            <a:ext cx="6217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 i="0">
                <a:solidFill>
                  <a:srgbClr val="000000"/>
                </a:solidFill>
                <a:latin typeface="Calibri"/>
              </a:defRPr>
            </a:pPr>
            <a:r>
              <a:rPr b="1">
                <a:solidFill>
                  <a:srgbClr val="1A6FFF"/>
                </a:solidFill>
              </a:rPr>
              <a:t>POST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2980944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 i="0">
                <a:solidFill>
                  <a:srgbClr val="EDEDED"/>
                </a:solidFill>
                <a:latin typeface="Consolas"/>
              </a:defRPr>
            </a:pPr>
            <a:r>
              <a:rPr b="1">
                <a:solidFill>
                  <a:srgbClr val="FFC200"/>
                </a:solidFill>
              </a:rPr>
              <a:t>/assistant/explain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92424" y="2999232"/>
            <a:ext cx="83698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8899BB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Decide + LLM+RAG - resposta em linguagem natural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3364992"/>
            <a:ext cx="11369040" cy="6350"/>
          </a:xfrm>
          <a:prstGeom prst="rect">
            <a:avLst/>
          </a:prstGeom>
          <a:solidFill>
            <a:srgbClr val="0D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3419856"/>
            <a:ext cx="621792" cy="347472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3419856"/>
            <a:ext cx="6217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1A9E1A"/>
                </a:solidFill>
              </a:rPr>
              <a:t>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3438144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 i="0">
                <a:solidFill>
                  <a:srgbClr val="EDEDED"/>
                </a:solidFill>
                <a:latin typeface="Consolas"/>
              </a:defRPr>
            </a:pPr>
            <a:r>
              <a:rPr b="1">
                <a:solidFill>
                  <a:srgbClr val="FFC200"/>
                </a:solidFill>
              </a:rPr>
              <a:t>/metrics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92424" y="3456432"/>
            <a:ext cx="83698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8899BB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Matriz de comparacao de politicas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3822192"/>
            <a:ext cx="11369040" cy="6350"/>
          </a:xfrm>
          <a:prstGeom prst="rect">
            <a:avLst/>
          </a:prstGeom>
          <a:solidFill>
            <a:srgbClr val="0D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" y="3877056"/>
            <a:ext cx="621792" cy="347472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3877056"/>
            <a:ext cx="6217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1A9E1A"/>
                </a:solidFill>
              </a:rPr>
              <a:t>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3895344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 i="0">
                <a:solidFill>
                  <a:srgbClr val="EDEDED"/>
                </a:solidFill>
                <a:latin typeface="Consolas"/>
              </a:defRPr>
            </a:pPr>
            <a:r>
              <a:rPr b="1">
                <a:solidFill>
                  <a:srgbClr val="FFC200"/>
                </a:solidFill>
              </a:rPr>
              <a:t>/metrics/regret-curve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92424" y="3913632"/>
            <a:ext cx="83698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8899BB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Curvas de regret acumulado para visualizacao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4480560"/>
            <a:ext cx="11369040" cy="731520"/>
          </a:xfrm>
          <a:prstGeom prst="rect">
            <a:avLst/>
          </a:prstGeom>
          <a:solidFill>
            <a:srgbClr val="010A1A"/>
          </a:solidFill>
          <a:ln w="1270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4572000"/>
            <a:ext cx="11003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 i="0">
                <a:solidFill>
                  <a:srgbClr val="FFC200"/>
                </a:solidFill>
                <a:latin typeface="Calibri"/>
              </a:defRPr>
            </a:pPr>
            <a:r>
              <a:rPr b="1" sz="1100">
                <a:solidFill>
                  <a:srgbClr val="FFC200"/>
                </a:solidFill>
              </a:rPr>
              <a:t>FLUXO DE DECISAO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4809744"/>
            <a:ext cx="1100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8899BB"/>
                </a:solidFill>
                <a:latin typeface="Calibri"/>
              </a:defRPr>
            </a:pPr>
            <a:r>
              <a:rPr sz="900">
                <a:solidFill>
                  <a:srgbClr val="EDEDED"/>
                </a:solidFill>
              </a:rPr>
              <a:t>POST /decide  -&gt;  Feature Extraction  -&gt;  Eligibility Guard  -&gt;  Bandit Policy  -&gt;  Reward Estimate  -&gt;  Audit Log  -&gt;  DecisionOut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6528816"/>
            <a:ext cx="11369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 i="0">
                <a:solidFill>
                  <a:srgbClr val="8899BB"/>
                </a:solidFill>
                <a:latin typeface="Calibri"/>
              </a:defRPr>
            </a:pPr>
            <a:r>
              <a:rPr sz="900">
                <a:solidFill>
                  <a:srgbClr val="8899BB"/>
                </a:solidFill>
              </a:rPr>
              <a:t>Swagger UI em http://localhost:8000/docs  |  Decisoes auditaveis em audit_log.jsonl  |  FIAP 7MLET Grupo 74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D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DEDED"/>
                </a:solidFill>
              </a:rPr>
              <a:t>DASHBOARD BI — Observability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6FFF"/>
                </a:solidFill>
              </a:rPr>
              <a:t>Streamlit · Tempo real · Multi-armed bandit · localhost:8503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8503920" cy="36000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05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C200"/>
                </a:solidFill>
              </a:rPr>
              <a:t>O QUE O DASHBOARD FAZ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2697480" cy="384048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353312"/>
            <a:ext cx="2587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DEDED"/>
                </a:solidFill>
              </a:rPr>
              <a:t>⚡ Métricas em Tempo Real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09928"/>
            <a:ext cx="2697480" cy="2816352"/>
          </a:xfrm>
          <a:prstGeom prst="rect">
            <a:avLst/>
          </a:prstGeom>
          <a:solidFill>
            <a:srgbClr val="000022"/>
          </a:solidFill>
          <a:ln w="12700">
            <a:solidFill>
              <a:srgbClr val="003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783080"/>
            <a:ext cx="253288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DEDED"/>
                </a:solidFill>
              </a:rPr>
              <a:t>• 4 KPI tiles com sparklines de aprendizado
• Reward/1k, Regret ratio, Conversão, Lift
• Atualiza a cada 30s via @st.fragment
• Mostra política ativa e rodadas simuladas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27248" y="1325880"/>
            <a:ext cx="2697480" cy="384048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353312"/>
            <a:ext cx="2587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DEDED"/>
                </a:solidFill>
              </a:rPr>
              <a:t>📡 Feed de Decisões ao Vivo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27248" y="1709928"/>
            <a:ext cx="2697480" cy="2816352"/>
          </a:xfrm>
          <a:prstGeom prst="rect">
            <a:avLst/>
          </a:prstGeom>
          <a:solidFill>
            <a:srgbClr val="000055"/>
          </a:solidFill>
          <a:ln w="12700">
            <a:solidFill>
              <a:srgbClr val="1A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18688" y="1783080"/>
            <a:ext cx="253288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DEDED"/>
                </a:solidFill>
              </a:rPr>
              <a:t>• Log de auditoria em tempo real (audit.jsonl)
• Coloração: Verde = Exploit · Ciano = Explore
• Timestamps em horário local (UTC-3)
• 112+ decisões registradas e auditáveis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34456" y="1325880"/>
            <a:ext cx="2697480" cy="384048"/>
          </a:xfrm>
          <a:prstGeom prst="rect">
            <a:avLst/>
          </a:prstGeom>
          <a:solidFill>
            <a:srgbClr val="1A9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07608" y="1353312"/>
            <a:ext cx="2587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DEDED"/>
                </a:solidFill>
              </a:rPr>
              <a:t>🤖 Assistente LLM + RAG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34456" y="1709928"/>
            <a:ext cx="2697480" cy="2816352"/>
          </a:xfrm>
          <a:prstGeom prst="rect">
            <a:avLst/>
          </a:prstGeom>
          <a:solidFill>
            <a:srgbClr val="000000"/>
          </a:solidFill>
          <a:ln w="12700">
            <a:solidFill>
              <a:srgbClr val="1A9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25896" y="1783080"/>
            <a:ext cx="253288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DEDED"/>
                </a:solidFill>
              </a:rPr>
              <a:t>• Explica cada decisão em linguagem natural
• RAG recupera política comercial por semântica
• Modo offline (análise ML) sem custo de API
• Modo online com Claude via Anthropic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6634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C200"/>
                </a:solidFill>
              </a:rPr>
              <a:t>MAIS FUNCIONALIDADES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956048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6FFF"/>
                </a:solidFill>
              </a:rPr>
              <a:t>📊 Dinâmica de Aprendizado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212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99BB"/>
                </a:solidFill>
              </a:rPr>
              <a:t>Heatmap multi-métrica, curvas de regret por janela, lollipop de exploração, barras de pulls por oferta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36392" y="4956048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6FFF"/>
                </a:solidFill>
              </a:rPr>
              <a:t>🧪 Explorador de Decisão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36392" y="5212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99BB"/>
                </a:solidFill>
              </a:rPr>
              <a:t>Simula uma decisão ao vivo via API com contexto do cliente, exibe oferta elegível com análise de valor esperado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52744" y="4956048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6FFF"/>
                </a:solidFill>
              </a:rPr>
              <a:t>🔬 Rastreio de Execução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52744" y="5212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99BB"/>
                </a:solidFill>
              </a:rPr>
              <a:t>Trace de RAG (ms), LLM (ms), total (ms), chunks recuperados, query semântica e snippet do prompt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400800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99BB"/>
                </a:solidFill>
              </a:rPr>
              <a:t>streamlit run dashboard/app.py --server.port 8503  |  Plotly · Pandas · @st.fragment(run_every=30)  |  FIAP 7MLET Grupo 74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68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IMPACTO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Decide, aprende e se explica.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306324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D6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em tempo real a oferta de maior valor esperado para cada cliente — com governança pronta para produção e decisões auditáveis.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" y="4343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9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+9%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66928" y="4983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vs. baseline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72968" y="4343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9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8,3%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172968" y="4983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regret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779008" y="4343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9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779008" y="4983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auditáveis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5806440"/>
            <a:ext cx="11055096" cy="0"/>
          </a:xfrm>
          <a:prstGeom prst="line">
            <a:avLst/>
          </a:prstGeom>
          <a:noFill/>
          <a:ln w="12700">
            <a:solidFill>
              <a:srgbClr val="3A3A4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66928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Dione Braga · Grupo 74 · FIAP Pós-Tech 7MLET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964424" y="5943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329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Obrigado.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FIAP Pós-Tech 7MLET — Grupo 64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Offers Platform — Pitch</dc:title>
  <dc:subject>PptxGenJS Presentation</dc:subject>
  <dc:creator>Dione Braga</dc:creator>
  <cp:lastModifiedBy>Dione Braga</cp:lastModifiedBy>
  <cp:revision>1</cp:revision>
  <dcterms:created xsi:type="dcterms:W3CDTF">2026-06-18T15:19:13Z</dcterms:created>
  <dcterms:modified xsi:type="dcterms:W3CDTF">2026-06-18T15:19:13Z</dcterms:modified>
</cp:coreProperties>
</file>